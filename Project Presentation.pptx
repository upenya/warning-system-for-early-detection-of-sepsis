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</p:sldMasterIdLst>
  <p:notesMasterIdLst>
    <p:notesMasterId r:id="rId29"/>
  </p:notesMasterIdLst>
  <p:sldIdLst>
    <p:sldId id="256" r:id="rId3"/>
    <p:sldId id="257" r:id="rId4"/>
    <p:sldId id="258" r:id="rId5"/>
    <p:sldId id="259" r:id="rId6"/>
    <p:sldId id="260" r:id="rId7"/>
    <p:sldId id="282" r:id="rId8"/>
    <p:sldId id="261" r:id="rId9"/>
    <p:sldId id="262" r:id="rId10"/>
    <p:sldId id="280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9" r:id="rId20"/>
    <p:sldId id="271" r:id="rId21"/>
    <p:sldId id="272" r:id="rId22"/>
    <p:sldId id="273" r:id="rId23"/>
    <p:sldId id="274" r:id="rId24"/>
    <p:sldId id="275" r:id="rId25"/>
    <p:sldId id="278" r:id="rId26"/>
    <p:sldId id="276" r:id="rId27"/>
    <p:sldId id="277" r:id="rId28"/>
  </p:sldIdLst>
  <p:sldSz cx="18288000" cy="10287000"/>
  <p:notesSz cx="6858000" cy="9144000"/>
  <p:embeddedFontLst>
    <p:embeddedFont>
      <p:font typeface="Century" panose="02040604050505020304" pitchFamily="18" charset="0"/>
      <p:regular r:id="rId30"/>
    </p:embeddedFont>
    <p:embeddedFont>
      <p:font typeface="League Spartan" panose="020B0604020202020204" charset="0"/>
      <p:regular r:id="rId31"/>
    </p:embeddedFont>
    <p:embeddedFont>
      <p:font typeface="Times New Roman Bold" panose="02020803070505020304" pitchFamily="18" charset="0"/>
      <p:regular r:id="rId32"/>
      <p:bold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2017" autoAdjust="0"/>
  </p:normalViewPr>
  <p:slideViewPr>
    <p:cSldViewPr>
      <p:cViewPr varScale="1">
        <p:scale>
          <a:sx n="46" d="100"/>
          <a:sy n="46" d="100"/>
        </p:scale>
        <p:origin x="466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4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3.fntdata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font" Target="fonts/font1.fntdata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525C87-0924-44D7-8748-D0A510533B0F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54C1B9-A2C5-43C6-BD26-ADEE3DD47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827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4C1B9-A2C5-43C6-BD26-ADEE3DD47DB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893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13034282" y="8572500"/>
            <a:ext cx="5037364" cy="13900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3200" dirty="0">
                <a:solidFill>
                  <a:srgbClr val="000000"/>
                </a:solidFill>
                <a:latin typeface="Century" panose="02040604050505020304" pitchFamily="18" charset="0"/>
                <a:ea typeface="Times New Roman"/>
                <a:cs typeface="Times New Roman"/>
                <a:sym typeface="Times New Roman"/>
              </a:rPr>
              <a:t>A D U DEWMINI</a:t>
            </a:r>
          </a:p>
          <a:p>
            <a:pPr algn="ctr">
              <a:lnSpc>
                <a:spcPts val="5759"/>
              </a:lnSpc>
            </a:pPr>
            <a:r>
              <a:rPr lang="en-US" sz="3200" dirty="0">
                <a:solidFill>
                  <a:srgbClr val="000000"/>
                </a:solidFill>
                <a:latin typeface="Century" panose="02040604050505020304" pitchFamily="18" charset="0"/>
                <a:ea typeface="Times New Roman"/>
                <a:cs typeface="Times New Roman"/>
                <a:sym typeface="Times New Roman"/>
              </a:rPr>
              <a:t>D/ENG/23/0160/BM</a:t>
            </a:r>
          </a:p>
        </p:txBody>
      </p:sp>
      <p:pic>
        <p:nvPicPr>
          <p:cNvPr id="17" name="Picture 16" descr="A person lying in a hospital bed&#10;&#10;AI-generated content may be incorrect.">
            <a:extLst>
              <a:ext uri="{FF2B5EF4-FFF2-40B4-BE49-F238E27FC236}">
                <a16:creationId xmlns:a16="http://schemas.microsoft.com/office/drawing/2014/main" id="{FE49DB25-1F1E-E1E9-76BF-8C49A76B86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53"/>
          <a:stretch>
            <a:fillRect/>
          </a:stretch>
        </p:blipFill>
        <p:spPr>
          <a:xfrm>
            <a:off x="-36022" y="116630"/>
            <a:ext cx="6436822" cy="1017037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791200" y="800100"/>
            <a:ext cx="12496800" cy="63743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EARLOBE-BASED WEARABLE </a:t>
            </a:r>
          </a:p>
          <a:p>
            <a:pPr algn="ctr">
              <a:lnSpc>
                <a:spcPts val="8399"/>
              </a:lnSpc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EARLY DETECTION OF SEPSIS-RELATED VITAL</a:t>
            </a:r>
          </a:p>
          <a:p>
            <a:pPr algn="ctr">
              <a:lnSpc>
                <a:spcPts val="8399"/>
              </a:lnSpc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SIGNS </a:t>
            </a:r>
          </a:p>
          <a:p>
            <a:pPr algn="ctr">
              <a:lnSpc>
                <a:spcPts val="8399"/>
              </a:lnSpc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ABNORMALITIES IN </a:t>
            </a:r>
          </a:p>
          <a:p>
            <a:pPr algn="ctr">
              <a:lnSpc>
                <a:spcPts val="8399"/>
              </a:lnSpc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BEDRIDDEN PATIENTS</a:t>
            </a:r>
            <a:endParaRPr lang="en-US" sz="6000" b="1" dirty="0">
              <a:solidFill>
                <a:srgbClr val="000000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02BC98-ABDA-F2DA-D8BB-F10122BABCA7}"/>
              </a:ext>
            </a:extLst>
          </p:cNvPr>
          <p:cNvSpPr txBox="1"/>
          <p:nvPr/>
        </p:nvSpPr>
        <p:spPr>
          <a:xfrm>
            <a:off x="2735036" y="4852698"/>
            <a:ext cx="128179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C6FC53-F86F-B4DA-88FB-4D3A5F304966}"/>
              </a:ext>
            </a:extLst>
          </p:cNvPr>
          <p:cNvSpPr txBox="1"/>
          <p:nvPr/>
        </p:nvSpPr>
        <p:spPr>
          <a:xfrm>
            <a:off x="3048000" y="4958834"/>
            <a:ext cx="128179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2324209" y="351686"/>
            <a:ext cx="5994124" cy="1773322"/>
            <a:chOff x="0" y="0"/>
            <a:chExt cx="27474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47400" cy="812800"/>
            </a:xfrm>
            <a:custGeom>
              <a:avLst/>
              <a:gdLst/>
              <a:ahLst/>
              <a:cxnLst/>
              <a:rect l="l" t="t" r="r" b="b"/>
              <a:pathLst>
                <a:path w="2747400" h="8128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2747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324209" y="57425"/>
            <a:ext cx="6222725" cy="2085548"/>
            <a:chOff x="-104779" y="-76200"/>
            <a:chExt cx="2852179" cy="955908"/>
          </a:xfrm>
        </p:grpSpPr>
        <p:sp>
          <p:nvSpPr>
            <p:cNvPr id="9" name="Freeform 9"/>
            <p:cNvSpPr/>
            <p:nvPr/>
          </p:nvSpPr>
          <p:spPr>
            <a:xfrm>
              <a:off x="-104779" y="13738"/>
              <a:ext cx="2747400" cy="865970"/>
            </a:xfrm>
            <a:custGeom>
              <a:avLst/>
              <a:gdLst/>
              <a:ahLst/>
              <a:cxnLst/>
              <a:rect l="l" t="t" r="r" b="b"/>
              <a:pathLst>
                <a:path w="2747400" h="865970">
                  <a:moveTo>
                    <a:pt x="2747400" y="0"/>
                  </a:moveTo>
                  <a:lnTo>
                    <a:pt x="0" y="0"/>
                  </a:lnTo>
                  <a:lnTo>
                    <a:pt x="0" y="678010"/>
                  </a:lnTo>
                  <a:lnTo>
                    <a:pt x="157480" y="678010"/>
                  </a:lnTo>
                  <a:lnTo>
                    <a:pt x="157480" y="865970"/>
                  </a:lnTo>
                  <a:lnTo>
                    <a:pt x="463550" y="678010"/>
                  </a:lnTo>
                  <a:lnTo>
                    <a:pt x="2747400" y="67801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2747400" cy="7516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372600" y="1063375"/>
            <a:ext cx="8577949" cy="9591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91543" lvl="1" indent="-445771" algn="l">
              <a:lnSpc>
                <a:spcPts val="5781"/>
              </a:lnSpc>
              <a:buFont typeface="Arial"/>
              <a:buChar char="•"/>
            </a:pPr>
            <a:r>
              <a:rPr lang="en-US" sz="41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Identification</a:t>
            </a:r>
          </a:p>
          <a:p>
            <a:pPr marL="891543" lvl="1" indent="-445771" algn="l">
              <a:lnSpc>
                <a:spcPts val="5781"/>
              </a:lnSpc>
              <a:buFont typeface="Arial"/>
              <a:buChar char="•"/>
            </a:pPr>
            <a:r>
              <a:rPr lang="en-US" sz="41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Aim</a:t>
            </a:r>
          </a:p>
          <a:p>
            <a:pPr marL="891543" lvl="1" indent="-445771" algn="l">
              <a:lnSpc>
                <a:spcPts val="5781"/>
              </a:lnSpc>
              <a:buFont typeface="Arial"/>
              <a:buChar char="•"/>
            </a:pPr>
            <a:r>
              <a:rPr lang="en-US" sz="41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</a:p>
          <a:p>
            <a:pPr marL="891543" lvl="1" indent="-445771" algn="l">
              <a:lnSpc>
                <a:spcPts val="5781"/>
              </a:lnSpc>
              <a:buFont typeface="Arial"/>
              <a:buChar char="•"/>
            </a:pPr>
            <a:r>
              <a:rPr lang="en-US" sz="41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Market survey</a:t>
            </a:r>
          </a:p>
          <a:p>
            <a:pPr marL="891543" lvl="1" indent="-445771" algn="l">
              <a:lnSpc>
                <a:spcPts val="5781"/>
              </a:lnSpc>
              <a:buFont typeface="Arial"/>
              <a:buChar char="•"/>
            </a:pPr>
            <a:r>
              <a:rPr lang="en-US" sz="41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</a:t>
            </a:r>
          </a:p>
          <a:p>
            <a:pPr marL="891543" lvl="1" indent="-445771" algn="l">
              <a:lnSpc>
                <a:spcPts val="5781"/>
              </a:lnSpc>
              <a:buFont typeface="Arial"/>
              <a:buChar char="•"/>
            </a:pPr>
            <a:r>
              <a:rPr lang="en-US" sz="41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Design</a:t>
            </a:r>
          </a:p>
          <a:p>
            <a:pPr marL="891543" lvl="1" indent="-445771" algn="l">
              <a:lnSpc>
                <a:spcPts val="5781"/>
              </a:lnSpc>
              <a:buFont typeface="Arial"/>
              <a:buChar char="•"/>
            </a:pPr>
            <a:r>
              <a:rPr lang="en-US" sz="41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Circuit Diagram</a:t>
            </a:r>
          </a:p>
          <a:p>
            <a:pPr marL="891543" lvl="1" indent="-445771" algn="l">
              <a:lnSpc>
                <a:spcPts val="5781"/>
              </a:lnSpc>
              <a:buFont typeface="Arial"/>
              <a:buChar char="•"/>
            </a:pPr>
            <a:r>
              <a:rPr lang="en-US" sz="41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Solid work design</a:t>
            </a:r>
          </a:p>
          <a:p>
            <a:pPr marL="891543" lvl="1" indent="-445771" algn="l">
              <a:lnSpc>
                <a:spcPts val="5781"/>
              </a:lnSpc>
              <a:buFont typeface="Arial"/>
              <a:buChar char="•"/>
            </a:pPr>
            <a:r>
              <a:rPr lang="en-US" sz="41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PCB design</a:t>
            </a:r>
          </a:p>
          <a:p>
            <a:pPr marL="891543" lvl="1" indent="-445771" algn="l">
              <a:lnSpc>
                <a:spcPts val="5781"/>
              </a:lnSpc>
              <a:buFont typeface="Arial"/>
              <a:buChar char="•"/>
            </a:pPr>
            <a:r>
              <a:rPr lang="en-US" sz="41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Stimulation and results</a:t>
            </a:r>
          </a:p>
          <a:p>
            <a:pPr marL="891543" lvl="1" indent="-445771" algn="l">
              <a:lnSpc>
                <a:spcPts val="5781"/>
              </a:lnSpc>
              <a:buFont typeface="Arial"/>
              <a:buChar char="•"/>
            </a:pPr>
            <a:r>
              <a:rPr lang="en-US" sz="41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Problems encountered</a:t>
            </a:r>
          </a:p>
          <a:p>
            <a:pPr marL="891543" lvl="1" indent="-445771" algn="l">
              <a:lnSpc>
                <a:spcPts val="5781"/>
              </a:lnSpc>
              <a:buFont typeface="Arial"/>
              <a:buChar char="•"/>
            </a:pPr>
            <a:r>
              <a:rPr lang="en-US" sz="41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 estimation</a:t>
            </a:r>
          </a:p>
          <a:p>
            <a:pPr algn="l">
              <a:lnSpc>
                <a:spcPts val="5781"/>
              </a:lnSpc>
            </a:pPr>
            <a:endParaRPr lang="en-US" sz="412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1143000" y="2912764"/>
            <a:ext cx="4788956" cy="4461471"/>
            <a:chOff x="0" y="0"/>
            <a:chExt cx="741935" cy="69119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41935" cy="691199"/>
            </a:xfrm>
            <a:custGeom>
              <a:avLst/>
              <a:gdLst/>
              <a:ahLst/>
              <a:cxnLst/>
              <a:rect l="l" t="t" r="r" b="b"/>
              <a:pathLst>
                <a:path w="741935" h="691199">
                  <a:moveTo>
                    <a:pt x="0" y="0"/>
                  </a:moveTo>
                  <a:lnTo>
                    <a:pt x="741935" y="0"/>
                  </a:lnTo>
                  <a:lnTo>
                    <a:pt x="741935" y="691199"/>
                  </a:lnTo>
                  <a:lnTo>
                    <a:pt x="0" y="691199"/>
                  </a:lnTo>
                  <a:close/>
                </a:path>
              </a:pathLst>
            </a:custGeom>
            <a:blipFill>
              <a:blip r:embed="rId2"/>
              <a:stretch>
                <a:fillRect t="-3670" b="-367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552810" y="681090"/>
            <a:ext cx="6027748" cy="756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17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028700" y="698010"/>
            <a:ext cx="12053437" cy="1773322"/>
            <a:chOff x="0" y="0"/>
            <a:chExt cx="5524679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524679" cy="812800"/>
            </a:xfrm>
            <a:custGeom>
              <a:avLst/>
              <a:gdLst/>
              <a:ahLst/>
              <a:cxnLst/>
              <a:rect l="l" t="t" r="r" b="b"/>
              <a:pathLst>
                <a:path w="5524679" h="812800">
                  <a:moveTo>
                    <a:pt x="5524679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5524679" y="624840"/>
                  </a:lnTo>
                  <a:lnTo>
                    <a:pt x="5524679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5524679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82076" y="476012"/>
            <a:ext cx="12020843" cy="1939571"/>
            <a:chOff x="0" y="-76200"/>
            <a:chExt cx="5509739" cy="889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509739" cy="812800"/>
            </a:xfrm>
            <a:custGeom>
              <a:avLst/>
              <a:gdLst/>
              <a:ahLst/>
              <a:cxnLst/>
              <a:rect l="l" t="t" r="r" b="b"/>
              <a:pathLst>
                <a:path w="5509739" h="812800">
                  <a:moveTo>
                    <a:pt x="5509739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5509739" y="624840"/>
                  </a:lnTo>
                  <a:lnTo>
                    <a:pt x="5509739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5509739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807875" y="2814932"/>
            <a:ext cx="11764373" cy="6564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13132" lvl="1" indent="-456566" algn="l">
              <a:lnSpc>
                <a:spcPts val="5921"/>
              </a:lnSpc>
              <a:buFont typeface="Arial"/>
              <a:buChar char="•"/>
            </a:pPr>
            <a:r>
              <a:rPr lang="en-US" sz="42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Delayed Detection of Sepsis in Bed Patients</a:t>
            </a:r>
          </a:p>
          <a:p>
            <a:pPr marL="913132" lvl="1" indent="-456566" algn="l">
              <a:lnSpc>
                <a:spcPts val="5921"/>
              </a:lnSpc>
              <a:buFont typeface="Arial"/>
              <a:buChar char="•"/>
            </a:pPr>
            <a:r>
              <a:rPr lang="en-US" sz="42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 Continuous Monitoring</a:t>
            </a:r>
          </a:p>
          <a:p>
            <a:pPr marL="913132" lvl="1" indent="-456566" algn="l">
              <a:lnSpc>
                <a:spcPts val="5921"/>
              </a:lnSpc>
              <a:buFont typeface="Arial"/>
              <a:buChar char="•"/>
            </a:pPr>
            <a:r>
              <a:rPr lang="en-US" sz="42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Uncomfortable and Inconvenient Monitoring Methods</a:t>
            </a:r>
          </a:p>
          <a:p>
            <a:pPr marL="913132" lvl="1" indent="-456566" algn="l">
              <a:lnSpc>
                <a:spcPts val="5921"/>
              </a:lnSpc>
              <a:buFont typeface="Arial"/>
              <a:buChar char="•"/>
            </a:pPr>
            <a:r>
              <a:rPr lang="en-US" sz="42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 for a Non-Intrusive and Comfortable Solution</a:t>
            </a:r>
          </a:p>
          <a:p>
            <a:pPr marL="913132" lvl="1" indent="-456566" algn="l">
              <a:lnSpc>
                <a:spcPts val="5921"/>
              </a:lnSpc>
              <a:buFont typeface="Arial"/>
              <a:buChar char="•"/>
            </a:pPr>
            <a:r>
              <a:rPr lang="en-US" sz="42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 of Caregiver Dependence</a:t>
            </a:r>
          </a:p>
          <a:p>
            <a:pPr marL="913132" lvl="1" indent="-456566" algn="l">
              <a:lnSpc>
                <a:spcPts val="5921"/>
              </a:lnSpc>
              <a:buFont typeface="Arial"/>
              <a:buChar char="•"/>
            </a:pPr>
            <a:r>
              <a:rPr lang="en-US" sz="42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Affordable and Accessible Health Monitoring</a:t>
            </a:r>
          </a:p>
          <a:p>
            <a:pPr algn="l">
              <a:lnSpc>
                <a:spcPts val="4381"/>
              </a:lnSpc>
            </a:pPr>
            <a:endParaRPr lang="en-US" sz="422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3258800" y="3676294"/>
            <a:ext cx="3549691" cy="2934411"/>
          </a:xfrm>
          <a:custGeom>
            <a:avLst/>
            <a:gdLst/>
            <a:ahLst/>
            <a:cxnLst/>
            <a:rect l="l" t="t" r="r" b="b"/>
            <a:pathLst>
              <a:path w="3549691" h="2934411">
                <a:moveTo>
                  <a:pt x="0" y="0"/>
                </a:moveTo>
                <a:lnTo>
                  <a:pt x="3549691" y="0"/>
                </a:lnTo>
                <a:lnTo>
                  <a:pt x="3549691" y="2934411"/>
                </a:lnTo>
                <a:lnTo>
                  <a:pt x="0" y="29344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752600" y="1033990"/>
            <a:ext cx="9874924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77"/>
              </a:lnSpc>
            </a:pPr>
            <a:r>
              <a:rPr lang="en-US" sz="5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IDENTIFICATION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21763" y="237480"/>
            <a:ext cx="5994124" cy="1773322"/>
            <a:chOff x="0" y="0"/>
            <a:chExt cx="27474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47400" cy="812800"/>
            </a:xfrm>
            <a:custGeom>
              <a:avLst/>
              <a:gdLst/>
              <a:ahLst/>
              <a:cxnLst/>
              <a:rect l="l" t="t" r="r" b="b"/>
              <a:pathLst>
                <a:path w="2747400" h="8128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76200"/>
              <a:ext cx="2747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045316" y="211660"/>
            <a:ext cx="5994124" cy="1773322"/>
            <a:chOff x="0" y="0"/>
            <a:chExt cx="27474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747400" cy="812800"/>
            </a:xfrm>
            <a:custGeom>
              <a:avLst/>
              <a:gdLst/>
              <a:ahLst/>
              <a:cxnLst/>
              <a:rect l="l" t="t" r="r" b="b"/>
              <a:pathLst>
                <a:path w="2747400" h="8128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76200"/>
              <a:ext cx="2747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3179904" y="9130"/>
            <a:ext cx="3356084" cy="2039141"/>
          </a:xfrm>
          <a:custGeom>
            <a:avLst/>
            <a:gdLst/>
            <a:ahLst/>
            <a:cxnLst/>
            <a:rect l="l" t="t" r="r" b="b"/>
            <a:pathLst>
              <a:path w="3356084" h="2039141">
                <a:moveTo>
                  <a:pt x="0" y="0"/>
                </a:moveTo>
                <a:lnTo>
                  <a:pt x="3356084" y="0"/>
                </a:lnTo>
                <a:lnTo>
                  <a:pt x="3356084" y="2039140"/>
                </a:lnTo>
                <a:lnTo>
                  <a:pt x="0" y="20391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447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2438400" y="2781300"/>
            <a:ext cx="13990494" cy="69305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ts val="7000"/>
              </a:lnSpc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compact, non-invasive earlobe-mounted medical device that continuously monitors heart rate, blood oxygen saturation (SpO₂), and body temperature using integrated sensors, to detect early physiological signs associated with sepsis. The system incorporates a color-coded display and alarm mechanism to provide timely alerts for abnormal vital signs, enhancing early intervention and patient safety in home-care settings for bedridden individuals.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</a:t>
            </a:r>
          </a:p>
          <a:p>
            <a:pPr algn="l">
              <a:lnSpc>
                <a:spcPts val="5599"/>
              </a:lnSpc>
            </a:pPr>
            <a:endParaRPr lang="en-US" sz="36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988139" y="343844"/>
            <a:ext cx="6027748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36"/>
              </a:lnSpc>
            </a:pPr>
            <a:r>
              <a:rPr lang="en-US" sz="6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AIM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861900" y="2211491"/>
            <a:ext cx="4125584" cy="7913963"/>
            <a:chOff x="0" y="0"/>
            <a:chExt cx="1086574" cy="2084336"/>
          </a:xfrm>
          <a:solidFill>
            <a:schemeClr val="bg2">
              <a:lumMod val="75000"/>
            </a:schemeClr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1086574" cy="2084336"/>
            </a:xfrm>
            <a:custGeom>
              <a:avLst/>
              <a:gdLst/>
              <a:ahLst/>
              <a:cxnLst/>
              <a:rect l="l" t="t" r="r" b="b"/>
              <a:pathLst>
                <a:path w="1086574" h="2084336">
                  <a:moveTo>
                    <a:pt x="0" y="0"/>
                  </a:moveTo>
                  <a:lnTo>
                    <a:pt x="1086574" y="0"/>
                  </a:lnTo>
                  <a:lnTo>
                    <a:pt x="1086574" y="2084336"/>
                  </a:lnTo>
                  <a:lnTo>
                    <a:pt x="0" y="2084336"/>
                  </a:lnTo>
                  <a:close/>
                </a:path>
              </a:pathLst>
            </a:custGeom>
            <a:grpFill/>
            <a:ln w="38100" cap="sq">
              <a:solidFill>
                <a:srgbClr val="9BDAE9">
                  <a:alpha val="4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1086574" cy="21605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295262" y="2265694"/>
            <a:ext cx="4509471" cy="7913963"/>
            <a:chOff x="0" y="0"/>
            <a:chExt cx="1187680" cy="208433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87680" cy="2084336"/>
            </a:xfrm>
            <a:custGeom>
              <a:avLst/>
              <a:gdLst/>
              <a:ahLst/>
              <a:cxnLst/>
              <a:rect l="l" t="t" r="r" b="b"/>
              <a:pathLst>
                <a:path w="1187680" h="2084336">
                  <a:moveTo>
                    <a:pt x="0" y="0"/>
                  </a:moveTo>
                  <a:lnTo>
                    <a:pt x="1187680" y="0"/>
                  </a:lnTo>
                  <a:lnTo>
                    <a:pt x="1187680" y="2084336"/>
                  </a:lnTo>
                  <a:lnTo>
                    <a:pt x="0" y="2084336"/>
                  </a:lnTo>
                  <a:close/>
                </a:path>
              </a:pathLst>
            </a:custGeom>
            <a:solidFill>
              <a:schemeClr val="bg2">
                <a:lumMod val="75000"/>
                <a:alpha val="0"/>
              </a:schemeClr>
            </a:solidFill>
            <a:ln w="38100" cap="sq">
              <a:solidFill>
                <a:srgbClr val="9BDAE9">
                  <a:alpha val="4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76200"/>
              <a:ext cx="1187680" cy="2160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021763" y="237480"/>
            <a:ext cx="5994124" cy="1773322"/>
            <a:chOff x="0" y="0"/>
            <a:chExt cx="27474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747400" cy="812800"/>
            </a:xfrm>
            <a:custGeom>
              <a:avLst/>
              <a:gdLst/>
              <a:ahLst/>
              <a:cxnLst/>
              <a:rect l="l" t="t" r="r" b="b"/>
              <a:pathLst>
                <a:path w="2747400" h="8128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76200"/>
              <a:ext cx="2747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021763" y="142039"/>
            <a:ext cx="5994124" cy="1773322"/>
            <a:chOff x="0" y="0"/>
            <a:chExt cx="27474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747400" cy="812800"/>
            </a:xfrm>
            <a:custGeom>
              <a:avLst/>
              <a:gdLst/>
              <a:ahLst/>
              <a:cxnLst/>
              <a:rect l="l" t="t" r="r" b="b"/>
              <a:pathLst>
                <a:path w="2747400" h="8128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76200"/>
              <a:ext cx="2747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149332" y="2283415"/>
            <a:ext cx="3924031" cy="7913963"/>
            <a:chOff x="0" y="0"/>
            <a:chExt cx="1033490" cy="2084336"/>
          </a:xfrm>
          <a:solidFill>
            <a:schemeClr val="bg2">
              <a:lumMod val="75000"/>
            </a:schemeClr>
          </a:solidFill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33490" cy="2084336"/>
            </a:xfrm>
            <a:custGeom>
              <a:avLst/>
              <a:gdLst/>
              <a:ahLst/>
              <a:cxnLst/>
              <a:rect l="l" t="t" r="r" b="b"/>
              <a:pathLst>
                <a:path w="1033490" h="2084336">
                  <a:moveTo>
                    <a:pt x="0" y="0"/>
                  </a:moveTo>
                  <a:lnTo>
                    <a:pt x="1033490" y="0"/>
                  </a:lnTo>
                  <a:lnTo>
                    <a:pt x="1033490" y="2084336"/>
                  </a:lnTo>
                  <a:lnTo>
                    <a:pt x="0" y="2084336"/>
                  </a:lnTo>
                  <a:close/>
                </a:path>
              </a:pathLst>
            </a:custGeom>
            <a:grpFill/>
            <a:ln w="38100" cap="sq">
              <a:solidFill>
                <a:srgbClr val="9BDAE9">
                  <a:alpha val="4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76200"/>
              <a:ext cx="1033490" cy="21605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3283030" y="41423"/>
            <a:ext cx="3221594" cy="1773322"/>
          </a:xfrm>
          <a:custGeom>
            <a:avLst/>
            <a:gdLst/>
            <a:ahLst/>
            <a:cxnLst/>
            <a:rect l="l" t="t" r="r" b="b"/>
            <a:pathLst>
              <a:path w="3356084" h="2039141">
                <a:moveTo>
                  <a:pt x="0" y="0"/>
                </a:moveTo>
                <a:lnTo>
                  <a:pt x="3356084" y="0"/>
                </a:lnTo>
                <a:lnTo>
                  <a:pt x="3356084" y="2039140"/>
                </a:lnTo>
                <a:lnTo>
                  <a:pt x="0" y="20391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447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1979892" y="2515626"/>
            <a:ext cx="4125584" cy="946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Design and Sensor Integration</a:t>
            </a:r>
            <a:endParaRPr lang="en-US" sz="3500" b="1" dirty="0">
              <a:solidFill>
                <a:srgbClr val="000000"/>
              </a:solidFill>
              <a:latin typeface="Times New Roman" panose="02020603050405020304" pitchFamily="18" charset="0"/>
              <a:ea typeface="League Spartan"/>
              <a:cs typeface="Times New Roman" panose="02020603050405020304" pitchFamily="18" charset="0"/>
              <a:sym typeface="League Spartan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355390" y="2578402"/>
            <a:ext cx="4509471" cy="923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Alert and Monitoring System</a:t>
            </a:r>
            <a:endParaRPr lang="en-US" sz="3500" b="1" dirty="0">
              <a:solidFill>
                <a:srgbClr val="000000"/>
              </a:solidFill>
              <a:latin typeface="Times New Roman" panose="02020603050405020304" pitchFamily="18" charset="0"/>
              <a:ea typeface="League Spartan"/>
              <a:cs typeface="Times New Roman" panose="02020603050405020304" pitchFamily="18" charset="0"/>
              <a:sym typeface="League Spartan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2446773" y="3679751"/>
            <a:ext cx="3337117" cy="644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compact, non-invasive earlobe-mounted device that continuously monitors heart rate, SpO₂, and body temperature using integrated sensors.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295262" y="3781802"/>
            <a:ext cx="4449343" cy="5280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 real-time alert system with color-coded visual indicators and audible alarms to notify caregivers of abnormal vital signs associated with early signs of sepsis.</a:t>
            </a:r>
            <a:endParaRPr lang="en-US" sz="33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6988139" y="343844"/>
            <a:ext cx="6027748" cy="1038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36"/>
              </a:lnSpc>
            </a:pPr>
            <a:r>
              <a:rPr lang="en-US" sz="603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182008" y="2562034"/>
            <a:ext cx="3785035" cy="1795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Communication and Data Transmission</a:t>
            </a:r>
            <a:endParaRPr lang="en-US" sz="3500" b="1" dirty="0">
              <a:solidFill>
                <a:srgbClr val="000000"/>
              </a:solidFill>
              <a:latin typeface="Times New Roman" panose="02020603050405020304" pitchFamily="18" charset="0"/>
              <a:ea typeface="League Spartan"/>
              <a:cs typeface="Times New Roman" panose="02020603050405020304" pitchFamily="18" charset="0"/>
              <a:sym typeface="League Spartan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1090694" y="4666808"/>
            <a:ext cx="4041309" cy="4698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ensure the device is lightweight, comfortable for continuous wear, and operates efficiently with long battery life for reliable monitoring.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979892" y="2048270"/>
            <a:ext cx="13238422" cy="8131387"/>
            <a:chOff x="0" y="0"/>
            <a:chExt cx="3486663" cy="21416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486663" cy="2141600"/>
            </a:xfrm>
            <a:custGeom>
              <a:avLst/>
              <a:gdLst/>
              <a:ahLst/>
              <a:cxnLst/>
              <a:rect l="l" t="t" r="r" b="b"/>
              <a:pathLst>
                <a:path w="3486663" h="2141600">
                  <a:moveTo>
                    <a:pt x="0" y="0"/>
                  </a:moveTo>
                  <a:lnTo>
                    <a:pt x="3486663" y="0"/>
                  </a:lnTo>
                  <a:lnTo>
                    <a:pt x="3486663" y="2141600"/>
                  </a:lnTo>
                  <a:lnTo>
                    <a:pt x="0" y="2141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9BDAE9">
                  <a:alpha val="4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3486663" cy="2217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021763" y="237480"/>
            <a:ext cx="5994124" cy="1773322"/>
            <a:chOff x="0" y="0"/>
            <a:chExt cx="27474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47400" cy="812800"/>
            </a:xfrm>
            <a:custGeom>
              <a:avLst/>
              <a:gdLst/>
              <a:ahLst/>
              <a:cxnLst/>
              <a:rect l="l" t="t" r="r" b="b"/>
              <a:pathLst>
                <a:path w="2747400" h="8128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76200"/>
              <a:ext cx="2747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021763" y="142039"/>
            <a:ext cx="5994124" cy="1773322"/>
            <a:chOff x="0" y="0"/>
            <a:chExt cx="27474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747400" cy="812800"/>
            </a:xfrm>
            <a:custGeom>
              <a:avLst/>
              <a:gdLst/>
              <a:ahLst/>
              <a:cxnLst/>
              <a:rect l="l" t="t" r="r" b="b"/>
              <a:pathLst>
                <a:path w="2747400" h="8128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76200"/>
              <a:ext cx="2747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295400" y="2266856"/>
            <a:ext cx="15468600" cy="6912277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at increased risk of developing sepsis, those in home-care settings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Bedridden patients requiring continuous vital monitoring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Home-care patients with limited access to clinical observation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Elderly individuals more vulnerable to sepsis-related complications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Post-operative patients during recovery at home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Chronically ill or immunocompromised individuals at risk of infection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with limited mobility or neurological impairments, where early signs of sepsi</a:t>
            </a: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may go unnoticed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88139" y="343844"/>
            <a:ext cx="6027748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36"/>
              </a:lnSpc>
            </a:pPr>
            <a:r>
              <a:rPr lang="en-US" sz="603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Target Group</a:t>
            </a:r>
          </a:p>
        </p:txBody>
      </p:sp>
      <p:pic>
        <p:nvPicPr>
          <p:cNvPr id="17" name="Picture 16" descr="A close-up of a puzzle&#10;&#10;AI-generated content may be incorrect.">
            <a:extLst>
              <a:ext uri="{FF2B5EF4-FFF2-40B4-BE49-F238E27FC236}">
                <a16:creationId xmlns:a16="http://schemas.microsoft.com/office/drawing/2014/main" id="{00EB1FF2-3184-21B1-55A0-F0FF048DF9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3461" y="200640"/>
            <a:ext cx="2571750" cy="178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643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7433248" y="371309"/>
            <a:ext cx="6817094" cy="2077643"/>
            <a:chOff x="0" y="0"/>
            <a:chExt cx="3124607" cy="95228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124607" cy="952285"/>
            </a:xfrm>
            <a:custGeom>
              <a:avLst/>
              <a:gdLst/>
              <a:ahLst/>
              <a:cxnLst/>
              <a:rect l="l" t="t" r="r" b="b"/>
              <a:pathLst>
                <a:path w="3124607" h="952285">
                  <a:moveTo>
                    <a:pt x="3124607" y="0"/>
                  </a:moveTo>
                  <a:lnTo>
                    <a:pt x="0" y="0"/>
                  </a:lnTo>
                  <a:lnTo>
                    <a:pt x="0" y="764325"/>
                  </a:lnTo>
                  <a:lnTo>
                    <a:pt x="157480" y="764325"/>
                  </a:lnTo>
                  <a:lnTo>
                    <a:pt x="157480" y="952285"/>
                  </a:lnTo>
                  <a:lnTo>
                    <a:pt x="463550" y="764325"/>
                  </a:lnTo>
                  <a:lnTo>
                    <a:pt x="3124607" y="764325"/>
                  </a:lnTo>
                  <a:lnTo>
                    <a:pt x="3124607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76200"/>
              <a:ext cx="3124607" cy="8379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33248" y="371309"/>
            <a:ext cx="6817094" cy="2017469"/>
            <a:chOff x="0" y="0"/>
            <a:chExt cx="3124607" cy="92470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24607" cy="924705"/>
            </a:xfrm>
            <a:custGeom>
              <a:avLst/>
              <a:gdLst/>
              <a:ahLst/>
              <a:cxnLst/>
              <a:rect l="l" t="t" r="r" b="b"/>
              <a:pathLst>
                <a:path w="3124607" h="924705">
                  <a:moveTo>
                    <a:pt x="3124607" y="0"/>
                  </a:moveTo>
                  <a:lnTo>
                    <a:pt x="0" y="0"/>
                  </a:lnTo>
                  <a:lnTo>
                    <a:pt x="0" y="736745"/>
                  </a:lnTo>
                  <a:lnTo>
                    <a:pt x="157480" y="736745"/>
                  </a:lnTo>
                  <a:lnTo>
                    <a:pt x="157480" y="924705"/>
                  </a:lnTo>
                  <a:lnTo>
                    <a:pt x="463550" y="736745"/>
                  </a:lnTo>
                  <a:lnTo>
                    <a:pt x="3124607" y="736745"/>
                  </a:lnTo>
                  <a:lnTo>
                    <a:pt x="312460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76200"/>
              <a:ext cx="3124607" cy="8104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119227" y="2235293"/>
            <a:ext cx="12628041" cy="493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37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AVAILABLE  PRODUCTS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92802" y="2691185"/>
            <a:ext cx="17181278" cy="8227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Devices for Early Sepsis Detection:</a:t>
            </a:r>
          </a:p>
          <a:p>
            <a:pPr marL="906775" lvl="1" indent="-453388" algn="l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IntelliSep Sepsis Test (Cytovale) – 8 min detection using immune response analysis.</a:t>
            </a:r>
          </a:p>
          <a:p>
            <a:pPr marL="906775" lvl="1" indent="-453388" algn="l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Sepsis aiMarker™ (Biocogniv) – AI-based prediction up to 72 hours in advance.</a:t>
            </a:r>
          </a:p>
          <a:p>
            <a:pPr marL="906775" lvl="1" indent="-453388" algn="l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KATE AI Sepsis (Mednition) – 118% improved early detection in emergency triage.</a:t>
            </a:r>
          </a:p>
          <a:p>
            <a:pPr marL="906775" lvl="1" indent="-453388" algn="l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Patient Status Engine (Isansys Lifecare) – Wearable smart patch for continuous monitoring.</a:t>
            </a:r>
          </a:p>
          <a:p>
            <a:pPr algn="l">
              <a:lnSpc>
                <a:spcPts val="5879"/>
              </a:lnSpc>
            </a:pPr>
            <a:endParaRPr lang="en-US" sz="41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5879"/>
              </a:lnSpc>
            </a:pPr>
            <a:endParaRPr lang="en-US" sz="41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988139" y="372419"/>
            <a:ext cx="5209468" cy="1675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54"/>
              </a:lnSpc>
            </a:pPr>
            <a:r>
              <a:rPr lang="en-US" sz="5212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MARKET SURVEY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7433248" y="371309"/>
            <a:ext cx="6817094" cy="2077643"/>
            <a:chOff x="0" y="0"/>
            <a:chExt cx="3124607" cy="95228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124607" cy="952285"/>
            </a:xfrm>
            <a:custGeom>
              <a:avLst/>
              <a:gdLst/>
              <a:ahLst/>
              <a:cxnLst/>
              <a:rect l="l" t="t" r="r" b="b"/>
              <a:pathLst>
                <a:path w="3124607" h="952285">
                  <a:moveTo>
                    <a:pt x="3124607" y="0"/>
                  </a:moveTo>
                  <a:lnTo>
                    <a:pt x="0" y="0"/>
                  </a:lnTo>
                  <a:lnTo>
                    <a:pt x="0" y="764325"/>
                  </a:lnTo>
                  <a:lnTo>
                    <a:pt x="157480" y="764325"/>
                  </a:lnTo>
                  <a:lnTo>
                    <a:pt x="157480" y="952285"/>
                  </a:lnTo>
                  <a:lnTo>
                    <a:pt x="463550" y="764325"/>
                  </a:lnTo>
                  <a:lnTo>
                    <a:pt x="3124607" y="764325"/>
                  </a:lnTo>
                  <a:lnTo>
                    <a:pt x="3124607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76200"/>
              <a:ext cx="3124607" cy="8379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33248" y="371309"/>
            <a:ext cx="6817094" cy="2017469"/>
            <a:chOff x="0" y="0"/>
            <a:chExt cx="3124607" cy="92470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24607" cy="924705"/>
            </a:xfrm>
            <a:custGeom>
              <a:avLst/>
              <a:gdLst/>
              <a:ahLst/>
              <a:cxnLst/>
              <a:rect l="l" t="t" r="r" b="b"/>
              <a:pathLst>
                <a:path w="3124607" h="924705">
                  <a:moveTo>
                    <a:pt x="3124607" y="0"/>
                  </a:moveTo>
                  <a:lnTo>
                    <a:pt x="0" y="0"/>
                  </a:lnTo>
                  <a:lnTo>
                    <a:pt x="0" y="736745"/>
                  </a:lnTo>
                  <a:lnTo>
                    <a:pt x="157480" y="736745"/>
                  </a:lnTo>
                  <a:lnTo>
                    <a:pt x="157480" y="924705"/>
                  </a:lnTo>
                  <a:lnTo>
                    <a:pt x="463550" y="736745"/>
                  </a:lnTo>
                  <a:lnTo>
                    <a:pt x="3124607" y="736745"/>
                  </a:lnTo>
                  <a:lnTo>
                    <a:pt x="312460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76200"/>
              <a:ext cx="3124607" cy="8104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979892" y="2917367"/>
            <a:ext cx="12628041" cy="493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37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AVAILABILITY OF PATENT RIGHTS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665395" y="3249435"/>
            <a:ext cx="12917117" cy="6759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9"/>
              </a:lnSpc>
            </a:pPr>
            <a:endParaRPr/>
          </a:p>
          <a:p>
            <a:pPr marL="906775" lvl="1" indent="-453388" algn="l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patents exist for biomarker kits, AI-based models, and wearable biosensors.</a:t>
            </a:r>
          </a:p>
          <a:p>
            <a:pPr marL="906775" lvl="1" indent="-453388" algn="l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Patent Gaps- Opportunities for home-based monitoring, AI integration, and non-invasive diagnostics.</a:t>
            </a:r>
          </a:p>
          <a:p>
            <a:pPr marL="906775" lvl="1" indent="-453388" algn="l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Freedom to Operate (FTO) Analysis required to ensure no patent infringement.</a:t>
            </a:r>
          </a:p>
          <a:p>
            <a:pPr algn="l">
              <a:lnSpc>
                <a:spcPts val="6019"/>
              </a:lnSpc>
            </a:pPr>
            <a:endParaRPr lang="en-US" sz="41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988139" y="372419"/>
            <a:ext cx="5209468" cy="1675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54"/>
              </a:lnSpc>
            </a:pPr>
            <a:r>
              <a:rPr lang="en-US" sz="5212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MARKET SURVEY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6D04F9-19EA-CD9B-E4E2-30E6B88330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1" y="2324100"/>
            <a:ext cx="14630400" cy="729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467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930174" y="9130"/>
            <a:ext cx="6817094" cy="2077643"/>
            <a:chOff x="0" y="0"/>
            <a:chExt cx="3124607" cy="9522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24607" cy="952285"/>
            </a:xfrm>
            <a:custGeom>
              <a:avLst/>
              <a:gdLst/>
              <a:ahLst/>
              <a:cxnLst/>
              <a:rect l="l" t="t" r="r" b="b"/>
              <a:pathLst>
                <a:path w="3124607" h="952285">
                  <a:moveTo>
                    <a:pt x="3124607" y="0"/>
                  </a:moveTo>
                  <a:lnTo>
                    <a:pt x="0" y="0"/>
                  </a:lnTo>
                  <a:lnTo>
                    <a:pt x="0" y="764325"/>
                  </a:lnTo>
                  <a:lnTo>
                    <a:pt x="157480" y="764325"/>
                  </a:lnTo>
                  <a:lnTo>
                    <a:pt x="157480" y="952285"/>
                  </a:lnTo>
                  <a:lnTo>
                    <a:pt x="463550" y="764325"/>
                  </a:lnTo>
                  <a:lnTo>
                    <a:pt x="3124607" y="764325"/>
                  </a:lnTo>
                  <a:lnTo>
                    <a:pt x="3124607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3124607" cy="8379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930174" y="19965"/>
            <a:ext cx="6817094" cy="2017469"/>
            <a:chOff x="0" y="0"/>
            <a:chExt cx="3124607" cy="92470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124607" cy="924705"/>
            </a:xfrm>
            <a:custGeom>
              <a:avLst/>
              <a:gdLst/>
              <a:ahLst/>
              <a:cxnLst/>
              <a:rect l="l" t="t" r="r" b="b"/>
              <a:pathLst>
                <a:path w="3124607" h="924705">
                  <a:moveTo>
                    <a:pt x="3124607" y="0"/>
                  </a:moveTo>
                  <a:lnTo>
                    <a:pt x="0" y="0"/>
                  </a:lnTo>
                  <a:lnTo>
                    <a:pt x="0" y="736745"/>
                  </a:lnTo>
                  <a:lnTo>
                    <a:pt x="157480" y="736745"/>
                  </a:lnTo>
                  <a:lnTo>
                    <a:pt x="157480" y="924705"/>
                  </a:lnTo>
                  <a:lnTo>
                    <a:pt x="463550" y="736745"/>
                  </a:lnTo>
                  <a:lnTo>
                    <a:pt x="3124607" y="736745"/>
                  </a:lnTo>
                  <a:lnTo>
                    <a:pt x="312460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3124607" cy="8104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119227" y="2436693"/>
            <a:ext cx="12628041" cy="493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370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VALUE ADDITION FOR THE DEVICE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0322" y="2497952"/>
            <a:ext cx="17207355" cy="8526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endParaRPr dirty="0"/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Affordable Home Monitoring-Unlike hospital-based systems, your device allows continuous sepsis monitoring at home.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Wearable &amp; Adjustable Fit-Velcro strap for comfort ensures a secure and customizable fit for different patients.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Real-Time Alerts- improves detection accuracy while reducing false alarms.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User-Friendly Design- Plug-and-play operation, easy-to-read interface, and smartphone connectivity for caregivers.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Non-Invasive Alternative-Unlike blood-based biomarker tests, your device detects sepsis risk using real-time physiological monitoring.</a:t>
            </a:r>
          </a:p>
          <a:p>
            <a:pPr algn="l">
              <a:lnSpc>
                <a:spcPts val="5739"/>
              </a:lnSpc>
            </a:pPr>
            <a:endParaRPr lang="en-US" sz="39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433248" y="143149"/>
            <a:ext cx="5209468" cy="1675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54"/>
              </a:lnSpc>
            </a:pPr>
            <a:r>
              <a:rPr lang="en-US" sz="5212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MARKET SURVEY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3676224" y="2929528"/>
            <a:ext cx="10087659" cy="6234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2006" lvl="1" indent="-381003" algn="l">
              <a:lnSpc>
                <a:spcPts val="4941"/>
              </a:lnSpc>
              <a:buFont typeface="Arial"/>
              <a:buChar char="•"/>
            </a:pPr>
            <a:r>
              <a:rPr lang="en-US" sz="352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ESP32</a:t>
            </a:r>
            <a:r>
              <a:rPr lang="en-US" sz="35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-Processes sensor data, manages alerts</a:t>
            </a:r>
          </a:p>
          <a:p>
            <a:pPr marL="762006" lvl="1" indent="-381003" algn="l">
              <a:lnSpc>
                <a:spcPts val="4941"/>
              </a:lnSpc>
              <a:buFont typeface="Arial"/>
              <a:buChar char="•"/>
            </a:pPr>
            <a:r>
              <a:rPr lang="en-US" sz="352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MAX30102 Pulse Oximeter Sensor</a:t>
            </a:r>
            <a:r>
              <a:rPr lang="en-US" sz="35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Heart rate₂ and oxygen saturation</a:t>
            </a:r>
          </a:p>
          <a:p>
            <a:pPr marL="762006" lvl="1" indent="-381003" algn="l">
              <a:lnSpc>
                <a:spcPts val="4941"/>
              </a:lnSpc>
              <a:buFont typeface="Arial"/>
              <a:buChar char="•"/>
            </a:pPr>
            <a:r>
              <a:rPr lang="en-US" sz="352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MLX90614 Infrared Temperature Sensor</a:t>
            </a:r>
            <a:r>
              <a:rPr lang="en-US" sz="35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-measure-Non-contact body temperature</a:t>
            </a:r>
          </a:p>
          <a:p>
            <a:pPr marL="762006" lvl="1" indent="-381003" algn="l">
              <a:lnSpc>
                <a:spcPts val="4941"/>
              </a:lnSpc>
              <a:buFont typeface="Arial"/>
              <a:buChar char="•"/>
            </a:pPr>
            <a:r>
              <a:rPr lang="en-US" sz="352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LCD Display</a:t>
            </a:r>
          </a:p>
          <a:p>
            <a:pPr marL="762006" lvl="1" indent="-381003" algn="l">
              <a:lnSpc>
                <a:spcPts val="4941"/>
              </a:lnSpc>
              <a:buFont typeface="Arial"/>
              <a:buChar char="•"/>
            </a:pPr>
            <a:r>
              <a:rPr lang="en-US" sz="35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2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Mini Buzzer (</a:t>
            </a:r>
            <a:r>
              <a:rPr lang="en-US" sz="35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SP001)</a:t>
            </a:r>
          </a:p>
          <a:p>
            <a:pPr marL="762006" lvl="1" indent="-381003" algn="l">
              <a:lnSpc>
                <a:spcPts val="4941"/>
              </a:lnSpc>
              <a:buFont typeface="Arial"/>
              <a:buChar char="•"/>
            </a:pPr>
            <a:r>
              <a:rPr lang="en-US" sz="352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LED - for visual display</a:t>
            </a:r>
          </a:p>
          <a:p>
            <a:pPr marL="762006" lvl="1" indent="-381003" algn="l">
              <a:lnSpc>
                <a:spcPts val="4941"/>
              </a:lnSpc>
              <a:buFont typeface="Arial"/>
              <a:buChar char="•"/>
            </a:pPr>
            <a:r>
              <a:rPr lang="en-US" sz="352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3.7V Li-ion Rechargeable Battery </a:t>
            </a:r>
          </a:p>
          <a:p>
            <a:pPr marL="762006" lvl="1" indent="-381003" algn="l">
              <a:lnSpc>
                <a:spcPts val="4941"/>
              </a:lnSpc>
              <a:buFont typeface="Arial"/>
              <a:buChar char="•"/>
            </a:pPr>
            <a:r>
              <a:rPr lang="en-US" sz="352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Resistors &amp; Capacitors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5728846" y="516780"/>
            <a:ext cx="8432300" cy="2295195"/>
            <a:chOff x="0" y="0"/>
            <a:chExt cx="3864935" cy="1052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864935" cy="1052000"/>
            </a:xfrm>
            <a:custGeom>
              <a:avLst/>
              <a:gdLst/>
              <a:ahLst/>
              <a:cxnLst/>
              <a:rect l="l" t="t" r="r" b="b"/>
              <a:pathLst>
                <a:path w="3864935" h="1052000">
                  <a:moveTo>
                    <a:pt x="3864935" y="0"/>
                  </a:moveTo>
                  <a:lnTo>
                    <a:pt x="0" y="0"/>
                  </a:lnTo>
                  <a:lnTo>
                    <a:pt x="0" y="864040"/>
                  </a:lnTo>
                  <a:lnTo>
                    <a:pt x="157480" y="864040"/>
                  </a:lnTo>
                  <a:lnTo>
                    <a:pt x="157480" y="1052000"/>
                  </a:lnTo>
                  <a:lnTo>
                    <a:pt x="463550" y="864040"/>
                  </a:lnTo>
                  <a:lnTo>
                    <a:pt x="3864935" y="864040"/>
                  </a:lnTo>
                  <a:lnTo>
                    <a:pt x="3864935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76200"/>
              <a:ext cx="3864935" cy="93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728846" y="516780"/>
            <a:ext cx="8432300" cy="2295195"/>
            <a:chOff x="0" y="0"/>
            <a:chExt cx="3864935" cy="1052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864935" cy="1052000"/>
            </a:xfrm>
            <a:custGeom>
              <a:avLst/>
              <a:gdLst/>
              <a:ahLst/>
              <a:cxnLst/>
              <a:rect l="l" t="t" r="r" b="b"/>
              <a:pathLst>
                <a:path w="3864935" h="1052000">
                  <a:moveTo>
                    <a:pt x="3864935" y="0"/>
                  </a:moveTo>
                  <a:lnTo>
                    <a:pt x="0" y="0"/>
                  </a:lnTo>
                  <a:lnTo>
                    <a:pt x="0" y="864040"/>
                  </a:lnTo>
                  <a:lnTo>
                    <a:pt x="157480" y="864040"/>
                  </a:lnTo>
                  <a:lnTo>
                    <a:pt x="157480" y="1052000"/>
                  </a:lnTo>
                  <a:lnTo>
                    <a:pt x="463550" y="864040"/>
                  </a:lnTo>
                  <a:lnTo>
                    <a:pt x="3864935" y="864040"/>
                  </a:lnTo>
                  <a:lnTo>
                    <a:pt x="386493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76200"/>
              <a:ext cx="3864935" cy="93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126109" y="810588"/>
            <a:ext cx="7637774" cy="1028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65"/>
              </a:lnSpc>
            </a:pPr>
            <a:r>
              <a:rPr lang="en-US" sz="605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COMPONENTS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52492" y="414181"/>
            <a:ext cx="7554140" cy="2295195"/>
            <a:chOff x="0" y="0"/>
            <a:chExt cx="3462431" cy="1052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62431" cy="1052000"/>
            </a:xfrm>
            <a:custGeom>
              <a:avLst/>
              <a:gdLst/>
              <a:ahLst/>
              <a:cxnLst/>
              <a:rect l="l" t="t" r="r" b="b"/>
              <a:pathLst>
                <a:path w="3462431" h="1052000">
                  <a:moveTo>
                    <a:pt x="3462431" y="0"/>
                  </a:moveTo>
                  <a:lnTo>
                    <a:pt x="0" y="0"/>
                  </a:lnTo>
                  <a:lnTo>
                    <a:pt x="0" y="864040"/>
                  </a:lnTo>
                  <a:lnTo>
                    <a:pt x="157480" y="864040"/>
                  </a:lnTo>
                  <a:lnTo>
                    <a:pt x="157480" y="1052000"/>
                  </a:lnTo>
                  <a:lnTo>
                    <a:pt x="463550" y="864040"/>
                  </a:lnTo>
                  <a:lnTo>
                    <a:pt x="3462431" y="864040"/>
                  </a:lnTo>
                  <a:lnTo>
                    <a:pt x="3462431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3462431" cy="93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352492" y="414181"/>
            <a:ext cx="7554140" cy="2295195"/>
            <a:chOff x="0" y="0"/>
            <a:chExt cx="3462431" cy="1052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462431" cy="1052000"/>
            </a:xfrm>
            <a:custGeom>
              <a:avLst/>
              <a:gdLst/>
              <a:ahLst/>
              <a:cxnLst/>
              <a:rect l="l" t="t" r="r" b="b"/>
              <a:pathLst>
                <a:path w="3462431" h="1052000">
                  <a:moveTo>
                    <a:pt x="3462431" y="0"/>
                  </a:moveTo>
                  <a:lnTo>
                    <a:pt x="0" y="0"/>
                  </a:lnTo>
                  <a:lnTo>
                    <a:pt x="0" y="864040"/>
                  </a:lnTo>
                  <a:lnTo>
                    <a:pt x="157480" y="864040"/>
                  </a:lnTo>
                  <a:lnTo>
                    <a:pt x="157480" y="1052000"/>
                  </a:lnTo>
                  <a:lnTo>
                    <a:pt x="463550" y="864040"/>
                  </a:lnTo>
                  <a:lnTo>
                    <a:pt x="3462431" y="864040"/>
                  </a:lnTo>
                  <a:lnTo>
                    <a:pt x="346243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3462431" cy="93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19221" y="1686258"/>
            <a:ext cx="3086100" cy="308610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1992A3">
                    <a:alpha val="100000"/>
                  </a:srgbClr>
                </a:gs>
                <a:gs pos="100000">
                  <a:srgbClr val="74AEE1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0"/>
              <a:ext cx="812800" cy="1003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999"/>
                </a:lnSpc>
              </a:pPr>
              <a:r>
                <a:rPr lang="en-US" sz="49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ear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945057" y="3600450"/>
            <a:ext cx="3086100" cy="308610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1992A3">
                    <a:alpha val="100000"/>
                  </a:srgbClr>
                </a:gs>
                <a:gs pos="100000">
                  <a:srgbClr val="74AEE1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0"/>
              <a:ext cx="812800" cy="908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MAX30102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Pulse oximeter sensor</a:t>
              </a:r>
            </a:p>
            <a:p>
              <a:pPr algn="ctr">
                <a:lnSpc>
                  <a:spcPts val="3499"/>
                </a:lnSpc>
              </a:pPr>
              <a:endParaRPr lang="en-US" sz="2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MLX90614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Tempreature sensor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>
            <a:off x="3305321" y="3229308"/>
            <a:ext cx="1639736" cy="1914192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5" name="Group 15"/>
          <p:cNvGrpSpPr/>
          <p:nvPr/>
        </p:nvGrpSpPr>
        <p:grpSpPr>
          <a:xfrm>
            <a:off x="9444177" y="3600450"/>
            <a:ext cx="3086100" cy="3086100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1992A3">
                    <a:alpha val="100000"/>
                  </a:srgbClr>
                </a:gs>
                <a:gs pos="100000">
                  <a:srgbClr val="74AEE1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23825"/>
              <a:ext cx="812800" cy="9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79"/>
                </a:lnSpc>
              </a:pPr>
              <a:r>
                <a:rPr lang="en-US" sz="31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ESP32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>
            <a:off x="8031157" y="5143500"/>
            <a:ext cx="1413020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4173200" y="3600450"/>
            <a:ext cx="3086100" cy="3086100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1992A3">
                    <a:alpha val="100000"/>
                  </a:srgbClr>
                </a:gs>
                <a:gs pos="100000">
                  <a:srgbClr val="74AEE1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04775"/>
              <a:ext cx="812800" cy="917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Data transmission</a:t>
              </a:r>
            </a:p>
          </p:txBody>
        </p:sp>
      </p:grpSp>
      <p:sp>
        <p:nvSpPr>
          <p:cNvPr id="22" name="AutoShape 22"/>
          <p:cNvSpPr/>
          <p:nvPr/>
        </p:nvSpPr>
        <p:spPr>
          <a:xfrm>
            <a:off x="12530277" y="5143500"/>
            <a:ext cx="1642923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3" name="Group 23"/>
          <p:cNvGrpSpPr/>
          <p:nvPr/>
        </p:nvGrpSpPr>
        <p:grpSpPr>
          <a:xfrm>
            <a:off x="12530277" y="7448550"/>
            <a:ext cx="3086100" cy="2554012"/>
            <a:chOff x="0" y="0"/>
            <a:chExt cx="812800" cy="67266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672662"/>
            </a:xfrm>
            <a:custGeom>
              <a:avLst/>
              <a:gdLst/>
              <a:ahLst/>
              <a:cxnLst/>
              <a:rect l="l" t="t" r="r" b="b"/>
              <a:pathLst>
                <a:path w="812800" h="672662">
                  <a:moveTo>
                    <a:pt x="0" y="0"/>
                  </a:moveTo>
                  <a:lnTo>
                    <a:pt x="812800" y="0"/>
                  </a:lnTo>
                  <a:lnTo>
                    <a:pt x="812800" y="672662"/>
                  </a:lnTo>
                  <a:lnTo>
                    <a:pt x="0" y="672662"/>
                  </a:lnTo>
                  <a:close/>
                </a:path>
              </a:pathLst>
            </a:custGeom>
            <a:gradFill rotWithShape="1">
              <a:gsLst>
                <a:gs pos="0">
                  <a:srgbClr val="1992A3">
                    <a:alpha val="100000"/>
                  </a:srgbClr>
                </a:gs>
                <a:gs pos="100000">
                  <a:srgbClr val="74AEE1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04775"/>
              <a:ext cx="812800" cy="7774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r>
                <a:rPr lang="en-US" sz="25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LCD Display</a:t>
              </a:r>
            </a:p>
            <a:p>
              <a:pPr algn="ctr">
                <a:lnSpc>
                  <a:spcPts val="3639"/>
                </a:lnSpc>
              </a:pPr>
              <a:r>
                <a:rPr lang="en-US" sz="25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LED Indicater</a:t>
              </a:r>
            </a:p>
            <a:p>
              <a:pPr algn="ctr">
                <a:lnSpc>
                  <a:spcPts val="3639"/>
                </a:lnSpc>
              </a:pPr>
              <a:r>
                <a:rPr lang="en-US" sz="25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Buzzer</a:t>
              </a:r>
            </a:p>
          </p:txBody>
        </p:sp>
      </p:grpSp>
      <p:sp>
        <p:nvSpPr>
          <p:cNvPr id="26" name="AutoShape 26"/>
          <p:cNvSpPr/>
          <p:nvPr/>
        </p:nvSpPr>
        <p:spPr>
          <a:xfrm flipH="1">
            <a:off x="14073327" y="6686550"/>
            <a:ext cx="1642923" cy="76200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1471199" y="3806422"/>
            <a:ext cx="1299184" cy="1931872"/>
          </a:xfrm>
          <a:custGeom>
            <a:avLst/>
            <a:gdLst/>
            <a:ahLst/>
            <a:cxnLst/>
            <a:rect l="l" t="t" r="r" b="b"/>
            <a:pathLst>
              <a:path w="1299184" h="1931872">
                <a:moveTo>
                  <a:pt x="0" y="0"/>
                </a:moveTo>
                <a:lnTo>
                  <a:pt x="1299184" y="0"/>
                </a:lnTo>
                <a:lnTo>
                  <a:pt x="1299184" y="1931872"/>
                </a:lnTo>
                <a:lnTo>
                  <a:pt x="0" y="19318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7700984" y="2709376"/>
            <a:ext cx="1541614" cy="1559971"/>
          </a:xfrm>
          <a:custGeom>
            <a:avLst/>
            <a:gdLst/>
            <a:ahLst/>
            <a:cxnLst/>
            <a:rect l="l" t="t" r="r" b="b"/>
            <a:pathLst>
              <a:path w="1541614" h="1559971">
                <a:moveTo>
                  <a:pt x="0" y="0"/>
                </a:moveTo>
                <a:lnTo>
                  <a:pt x="1541615" y="0"/>
                </a:lnTo>
                <a:lnTo>
                  <a:pt x="1541615" y="1559971"/>
                </a:lnTo>
                <a:lnTo>
                  <a:pt x="0" y="15599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0929" b="-962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>
            <a:off x="3310195" y="5364752"/>
            <a:ext cx="1634862" cy="1173023"/>
          </a:xfrm>
          <a:custGeom>
            <a:avLst/>
            <a:gdLst/>
            <a:ahLst/>
            <a:cxnLst/>
            <a:rect l="l" t="t" r="r" b="b"/>
            <a:pathLst>
              <a:path w="1634862" h="1173023">
                <a:moveTo>
                  <a:pt x="0" y="0"/>
                </a:moveTo>
                <a:lnTo>
                  <a:pt x="1634862" y="0"/>
                </a:lnTo>
                <a:lnTo>
                  <a:pt x="1634862" y="1173023"/>
                </a:lnTo>
                <a:lnTo>
                  <a:pt x="0" y="11730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1604" b="-350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/>
          <p:cNvSpPr/>
          <p:nvPr/>
        </p:nvSpPr>
        <p:spPr>
          <a:xfrm>
            <a:off x="9650897" y="6654174"/>
            <a:ext cx="2273142" cy="1574361"/>
          </a:xfrm>
          <a:custGeom>
            <a:avLst/>
            <a:gdLst/>
            <a:ahLst/>
            <a:cxnLst/>
            <a:rect l="l" t="t" r="r" b="b"/>
            <a:pathLst>
              <a:path w="2273142" h="1574361">
                <a:moveTo>
                  <a:pt x="0" y="0"/>
                </a:moveTo>
                <a:lnTo>
                  <a:pt x="2273142" y="0"/>
                </a:lnTo>
                <a:lnTo>
                  <a:pt x="2273142" y="1574362"/>
                </a:lnTo>
                <a:lnTo>
                  <a:pt x="0" y="15743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Freeform 31"/>
          <p:cNvSpPr/>
          <p:nvPr/>
        </p:nvSpPr>
        <p:spPr>
          <a:xfrm>
            <a:off x="16621002" y="8074415"/>
            <a:ext cx="1666998" cy="1666998"/>
          </a:xfrm>
          <a:custGeom>
            <a:avLst/>
            <a:gdLst/>
            <a:ahLst/>
            <a:cxnLst/>
            <a:rect l="l" t="t" r="r" b="b"/>
            <a:pathLst>
              <a:path w="1666998" h="1666998">
                <a:moveTo>
                  <a:pt x="0" y="0"/>
                </a:moveTo>
                <a:lnTo>
                  <a:pt x="1666998" y="0"/>
                </a:lnTo>
                <a:lnTo>
                  <a:pt x="1666998" y="1666998"/>
                </a:lnTo>
                <a:lnTo>
                  <a:pt x="0" y="16669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Freeform 32"/>
          <p:cNvSpPr/>
          <p:nvPr/>
        </p:nvSpPr>
        <p:spPr>
          <a:xfrm>
            <a:off x="15616377" y="8725556"/>
            <a:ext cx="1113832" cy="1390904"/>
          </a:xfrm>
          <a:custGeom>
            <a:avLst/>
            <a:gdLst/>
            <a:ahLst/>
            <a:cxnLst/>
            <a:rect l="l" t="t" r="r" b="b"/>
            <a:pathLst>
              <a:path w="1113832" h="1390904">
                <a:moveTo>
                  <a:pt x="0" y="0"/>
                </a:moveTo>
                <a:lnTo>
                  <a:pt x="1113832" y="0"/>
                </a:lnTo>
                <a:lnTo>
                  <a:pt x="1113832" y="1390904"/>
                </a:lnTo>
                <a:lnTo>
                  <a:pt x="0" y="13909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/>
          <p:cNvSpPr/>
          <p:nvPr/>
        </p:nvSpPr>
        <p:spPr>
          <a:xfrm>
            <a:off x="15616377" y="7448550"/>
            <a:ext cx="1135042" cy="1251729"/>
          </a:xfrm>
          <a:custGeom>
            <a:avLst/>
            <a:gdLst/>
            <a:ahLst/>
            <a:cxnLst/>
            <a:rect l="l" t="t" r="r" b="b"/>
            <a:pathLst>
              <a:path w="1135042" h="1251729">
                <a:moveTo>
                  <a:pt x="0" y="0"/>
                </a:moveTo>
                <a:lnTo>
                  <a:pt x="1135043" y="0"/>
                </a:lnTo>
                <a:lnTo>
                  <a:pt x="1135043" y="1251729"/>
                </a:lnTo>
                <a:lnTo>
                  <a:pt x="0" y="125172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4" name="Group 34"/>
          <p:cNvGrpSpPr/>
          <p:nvPr/>
        </p:nvGrpSpPr>
        <p:grpSpPr>
          <a:xfrm>
            <a:off x="4943621" y="2839116"/>
            <a:ext cx="3086100" cy="780384"/>
            <a:chOff x="0" y="0"/>
            <a:chExt cx="812800" cy="205533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205533"/>
            </a:xfrm>
            <a:custGeom>
              <a:avLst/>
              <a:gdLst/>
              <a:ahLst/>
              <a:cxnLst/>
              <a:rect l="l" t="t" r="r" b="b"/>
              <a:pathLst>
                <a:path w="812800" h="205533">
                  <a:moveTo>
                    <a:pt x="0" y="0"/>
                  </a:moveTo>
                  <a:lnTo>
                    <a:pt x="812800" y="0"/>
                  </a:lnTo>
                  <a:lnTo>
                    <a:pt x="812800" y="205533"/>
                  </a:lnTo>
                  <a:lnTo>
                    <a:pt x="0" y="205533"/>
                  </a:lnTo>
                  <a:close/>
                </a:path>
              </a:pathLst>
            </a:custGeom>
            <a:solidFill>
              <a:srgbClr val="7BA6E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85725"/>
              <a:ext cx="812800" cy="2912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r>
                <a:rPr lang="en-US" sz="20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Earlobe Sensor Unit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2530277" y="9595629"/>
            <a:ext cx="3086100" cy="691371"/>
            <a:chOff x="0" y="0"/>
            <a:chExt cx="812800" cy="18208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182089"/>
            </a:xfrm>
            <a:custGeom>
              <a:avLst/>
              <a:gdLst/>
              <a:ahLst/>
              <a:cxnLst/>
              <a:rect l="l" t="t" r="r" b="b"/>
              <a:pathLst>
                <a:path w="812800" h="182089">
                  <a:moveTo>
                    <a:pt x="0" y="0"/>
                  </a:moveTo>
                  <a:lnTo>
                    <a:pt x="812800" y="0"/>
                  </a:lnTo>
                  <a:lnTo>
                    <a:pt x="812800" y="182089"/>
                  </a:lnTo>
                  <a:lnTo>
                    <a:pt x="0" y="182089"/>
                  </a:lnTo>
                  <a:close/>
                </a:path>
              </a:pathLst>
            </a:custGeom>
            <a:solidFill>
              <a:srgbClr val="7BA6E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85725"/>
              <a:ext cx="812800" cy="2678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r>
                <a:rPr lang="en-US" sz="20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 Display and Alert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5728846" y="801063"/>
            <a:ext cx="6801432" cy="1016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25"/>
              </a:lnSpc>
            </a:pPr>
            <a:r>
              <a:rPr lang="en-US" sz="585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DESIGN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19221" y="6292400"/>
            <a:ext cx="9508336" cy="3975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 algn="just">
              <a:lnSpc>
                <a:spcPts val="2411"/>
              </a:lnSpc>
              <a:buFont typeface="Arial" panose="020B0604020202020204" pitchFamily="34" charset="0"/>
              <a:buChar char="•"/>
            </a:pPr>
            <a:r>
              <a:rPr lang="en-US" sz="172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Green LED: Indicates normal/healthy readings. </a:t>
            </a:r>
          </a:p>
          <a:p>
            <a:pPr marL="1487702" lvl="4" indent="-297540" algn="just">
              <a:lnSpc>
                <a:spcPts val="2411"/>
              </a:lnSpc>
              <a:buFont typeface="Arial"/>
              <a:buChar char="•"/>
            </a:pPr>
            <a:r>
              <a:rPr lang="en-US" sz="1722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SpO</a:t>
            </a:r>
            <a:r>
              <a:rPr lang="en-US" sz="172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₂: 94%-100%</a:t>
            </a:r>
          </a:p>
          <a:p>
            <a:pPr marL="1487702" lvl="4" indent="-297540" algn="just">
              <a:lnSpc>
                <a:spcPts val="2411"/>
              </a:lnSpc>
              <a:buFont typeface="Arial"/>
              <a:buChar char="•"/>
            </a:pPr>
            <a:r>
              <a:rPr lang="en-US" sz="172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Heart rate: 60-90 bpm</a:t>
            </a:r>
          </a:p>
          <a:p>
            <a:pPr marL="1487702" lvl="4" indent="-297540" algn="just">
              <a:lnSpc>
                <a:spcPts val="2411"/>
              </a:lnSpc>
              <a:buFont typeface="Arial"/>
              <a:buChar char="•"/>
            </a:pPr>
            <a:r>
              <a:rPr lang="en-US" sz="172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Body temperature: 36°C-37.5°C</a:t>
            </a:r>
          </a:p>
          <a:p>
            <a:pPr marL="1115777" lvl="3" indent="-278944" algn="just">
              <a:lnSpc>
                <a:spcPts val="2411"/>
              </a:lnSpc>
              <a:buFont typeface="Arial"/>
              <a:buChar char="￭"/>
            </a:pPr>
            <a:r>
              <a:rPr lang="en-US" sz="172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Yellow LED: Signals a warning that one or more vitals are approaching abnormal ranges. </a:t>
            </a:r>
          </a:p>
          <a:p>
            <a:pPr marL="1487702" lvl="4" indent="-297540" algn="just">
              <a:lnSpc>
                <a:spcPts val="2411"/>
              </a:lnSpc>
              <a:buFont typeface="Arial"/>
              <a:buChar char="•"/>
            </a:pPr>
            <a:r>
              <a:rPr lang="en-US" sz="1722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SpO</a:t>
            </a:r>
            <a:r>
              <a:rPr lang="en-US" sz="172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₂: 90%-94%</a:t>
            </a:r>
          </a:p>
          <a:p>
            <a:pPr marL="1487702" lvl="4" indent="-297540" algn="just">
              <a:lnSpc>
                <a:spcPts val="2411"/>
              </a:lnSpc>
              <a:buFont typeface="Arial"/>
              <a:buChar char="•"/>
            </a:pPr>
            <a:r>
              <a:rPr lang="en-US" sz="172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Body temperature: 37.6°C-38°C</a:t>
            </a:r>
          </a:p>
          <a:p>
            <a:pPr marL="1115777" lvl="3" indent="-278944" algn="just">
              <a:lnSpc>
                <a:spcPts val="2411"/>
              </a:lnSpc>
              <a:buFont typeface="Arial"/>
              <a:buChar char="￭"/>
            </a:pPr>
            <a:r>
              <a:rPr lang="en-US" sz="172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 LED: Signals a critical condition where intervention is needed immediately. For example:</a:t>
            </a:r>
          </a:p>
          <a:p>
            <a:pPr marL="1487702" lvl="4" indent="-297540" algn="just">
              <a:lnSpc>
                <a:spcPts val="2411"/>
              </a:lnSpc>
              <a:buFont typeface="Arial"/>
              <a:buChar char="•"/>
            </a:pPr>
            <a:r>
              <a:rPr lang="en-US" sz="1722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SpO</a:t>
            </a:r>
            <a:r>
              <a:rPr lang="en-US" sz="172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₂: &lt;90%</a:t>
            </a:r>
          </a:p>
          <a:p>
            <a:pPr marL="1487702" lvl="4" indent="-297540" algn="just">
              <a:lnSpc>
                <a:spcPts val="2411"/>
              </a:lnSpc>
              <a:buFont typeface="Arial"/>
              <a:buChar char="•"/>
            </a:pPr>
            <a:r>
              <a:rPr lang="en-US" sz="172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Heart rate &gt; 90 bpm </a:t>
            </a:r>
          </a:p>
          <a:p>
            <a:pPr marL="1487702" lvl="4" indent="-297540" algn="just">
              <a:lnSpc>
                <a:spcPts val="2411"/>
              </a:lnSpc>
              <a:buFont typeface="Arial"/>
              <a:buChar char="•"/>
            </a:pPr>
            <a:r>
              <a:rPr lang="en-US" sz="172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Body temperature: &gt;38°C or &lt;36°C</a:t>
            </a:r>
          </a:p>
          <a:p>
            <a:pPr marL="1190162" lvl="4" algn="just">
              <a:lnSpc>
                <a:spcPts val="2411"/>
              </a:lnSpc>
            </a:pPr>
            <a:r>
              <a:rPr lang="en-US" sz="172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a audible alert from buzzer when red LED is on</a:t>
            </a:r>
          </a:p>
          <a:p>
            <a:pPr algn="just">
              <a:lnSpc>
                <a:spcPts val="2411"/>
              </a:lnSpc>
              <a:spcBef>
                <a:spcPct val="0"/>
              </a:spcBef>
            </a:pPr>
            <a:endParaRPr lang="en-US" sz="1722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28846" y="516780"/>
            <a:ext cx="8432300" cy="2295195"/>
            <a:chOff x="0" y="0"/>
            <a:chExt cx="3864935" cy="1052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64935" cy="1052000"/>
            </a:xfrm>
            <a:custGeom>
              <a:avLst/>
              <a:gdLst/>
              <a:ahLst/>
              <a:cxnLst/>
              <a:rect l="l" t="t" r="r" b="b"/>
              <a:pathLst>
                <a:path w="3864935" h="1052000">
                  <a:moveTo>
                    <a:pt x="3864935" y="0"/>
                  </a:moveTo>
                  <a:lnTo>
                    <a:pt x="0" y="0"/>
                  </a:lnTo>
                  <a:lnTo>
                    <a:pt x="0" y="864040"/>
                  </a:lnTo>
                  <a:lnTo>
                    <a:pt x="157480" y="864040"/>
                  </a:lnTo>
                  <a:lnTo>
                    <a:pt x="157480" y="1052000"/>
                  </a:lnTo>
                  <a:lnTo>
                    <a:pt x="463550" y="864040"/>
                  </a:lnTo>
                  <a:lnTo>
                    <a:pt x="3864935" y="864040"/>
                  </a:lnTo>
                  <a:lnTo>
                    <a:pt x="3864935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3864935" cy="93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728846" y="516780"/>
            <a:ext cx="8432300" cy="2295195"/>
            <a:chOff x="0" y="0"/>
            <a:chExt cx="3864935" cy="1052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864935" cy="1052000"/>
            </a:xfrm>
            <a:custGeom>
              <a:avLst/>
              <a:gdLst/>
              <a:ahLst/>
              <a:cxnLst/>
              <a:rect l="l" t="t" r="r" b="b"/>
              <a:pathLst>
                <a:path w="3864935" h="1052000">
                  <a:moveTo>
                    <a:pt x="3864935" y="0"/>
                  </a:moveTo>
                  <a:lnTo>
                    <a:pt x="0" y="0"/>
                  </a:lnTo>
                  <a:lnTo>
                    <a:pt x="0" y="864040"/>
                  </a:lnTo>
                  <a:lnTo>
                    <a:pt x="157480" y="864040"/>
                  </a:lnTo>
                  <a:lnTo>
                    <a:pt x="157480" y="1052000"/>
                  </a:lnTo>
                  <a:lnTo>
                    <a:pt x="463550" y="864040"/>
                  </a:lnTo>
                  <a:lnTo>
                    <a:pt x="3864935" y="864040"/>
                  </a:lnTo>
                  <a:lnTo>
                    <a:pt x="386493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3864935" cy="93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2182015" y="2852414"/>
            <a:ext cx="14599107" cy="6405886"/>
          </a:xfrm>
          <a:custGeom>
            <a:avLst/>
            <a:gdLst/>
            <a:ahLst/>
            <a:cxnLst/>
            <a:rect l="l" t="t" r="r" b="b"/>
            <a:pathLst>
              <a:path w="14599107" h="6405886">
                <a:moveTo>
                  <a:pt x="0" y="0"/>
                </a:moveTo>
                <a:lnTo>
                  <a:pt x="14599107" y="0"/>
                </a:lnTo>
                <a:lnTo>
                  <a:pt x="14599107" y="6405886"/>
                </a:lnTo>
                <a:lnTo>
                  <a:pt x="0" y="64058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0711" b="-3071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6126109" y="810588"/>
            <a:ext cx="7637774" cy="1028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65"/>
              </a:lnSpc>
            </a:pPr>
            <a:r>
              <a:rPr lang="en-US" sz="605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CIRCUIT DIAGRAM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828777" y="5010150"/>
            <a:ext cx="4847445" cy="646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4"/>
              </a:lnSpc>
              <a:spcBef>
                <a:spcPct val="0"/>
              </a:spcBef>
            </a:pPr>
            <a:r>
              <a:rPr lang="en-US" sz="340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EAR LOBE DEVICE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28846" y="516780"/>
            <a:ext cx="8432300" cy="2295195"/>
            <a:chOff x="0" y="0"/>
            <a:chExt cx="3864935" cy="1052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64935" cy="1052000"/>
            </a:xfrm>
            <a:custGeom>
              <a:avLst/>
              <a:gdLst/>
              <a:ahLst/>
              <a:cxnLst/>
              <a:rect l="l" t="t" r="r" b="b"/>
              <a:pathLst>
                <a:path w="3864935" h="1052000">
                  <a:moveTo>
                    <a:pt x="3864935" y="0"/>
                  </a:moveTo>
                  <a:lnTo>
                    <a:pt x="0" y="0"/>
                  </a:lnTo>
                  <a:lnTo>
                    <a:pt x="0" y="864040"/>
                  </a:lnTo>
                  <a:lnTo>
                    <a:pt x="157480" y="864040"/>
                  </a:lnTo>
                  <a:lnTo>
                    <a:pt x="157480" y="1052000"/>
                  </a:lnTo>
                  <a:lnTo>
                    <a:pt x="463550" y="864040"/>
                  </a:lnTo>
                  <a:lnTo>
                    <a:pt x="3864935" y="864040"/>
                  </a:lnTo>
                  <a:lnTo>
                    <a:pt x="3864935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3864935" cy="93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728846" y="516780"/>
            <a:ext cx="8432300" cy="2295195"/>
            <a:chOff x="0" y="0"/>
            <a:chExt cx="3864935" cy="1052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864935" cy="1052000"/>
            </a:xfrm>
            <a:custGeom>
              <a:avLst/>
              <a:gdLst/>
              <a:ahLst/>
              <a:cxnLst/>
              <a:rect l="l" t="t" r="r" b="b"/>
              <a:pathLst>
                <a:path w="3864935" h="1052000">
                  <a:moveTo>
                    <a:pt x="3864935" y="0"/>
                  </a:moveTo>
                  <a:lnTo>
                    <a:pt x="0" y="0"/>
                  </a:lnTo>
                  <a:lnTo>
                    <a:pt x="0" y="864040"/>
                  </a:lnTo>
                  <a:lnTo>
                    <a:pt x="157480" y="864040"/>
                  </a:lnTo>
                  <a:lnTo>
                    <a:pt x="157480" y="1052000"/>
                  </a:lnTo>
                  <a:lnTo>
                    <a:pt x="463550" y="864040"/>
                  </a:lnTo>
                  <a:lnTo>
                    <a:pt x="3864935" y="864040"/>
                  </a:lnTo>
                  <a:lnTo>
                    <a:pt x="386493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3864935" cy="93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5400000">
            <a:off x="5776923" y="1738323"/>
            <a:ext cx="5819754" cy="9220200"/>
          </a:xfrm>
          <a:custGeom>
            <a:avLst/>
            <a:gdLst/>
            <a:ahLst/>
            <a:cxnLst/>
            <a:rect l="l" t="t" r="r" b="b"/>
            <a:pathLst>
              <a:path w="5819754" h="9220200">
                <a:moveTo>
                  <a:pt x="0" y="0"/>
                </a:moveTo>
                <a:lnTo>
                  <a:pt x="5819754" y="0"/>
                </a:lnTo>
                <a:lnTo>
                  <a:pt x="5819754" y="9220200"/>
                </a:lnTo>
                <a:lnTo>
                  <a:pt x="0" y="9220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993" r="-48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6126109" y="810588"/>
            <a:ext cx="7637774" cy="1028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65"/>
              </a:lnSpc>
            </a:pPr>
            <a:r>
              <a:rPr lang="en-US" sz="605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CIRCUIT DIAGRAM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28846" y="516780"/>
            <a:ext cx="8432300" cy="2295195"/>
            <a:chOff x="0" y="0"/>
            <a:chExt cx="3864935" cy="1052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64935" cy="1052000"/>
            </a:xfrm>
            <a:custGeom>
              <a:avLst/>
              <a:gdLst/>
              <a:ahLst/>
              <a:cxnLst/>
              <a:rect l="l" t="t" r="r" b="b"/>
              <a:pathLst>
                <a:path w="3864935" h="1052000">
                  <a:moveTo>
                    <a:pt x="3864935" y="0"/>
                  </a:moveTo>
                  <a:lnTo>
                    <a:pt x="0" y="0"/>
                  </a:lnTo>
                  <a:lnTo>
                    <a:pt x="0" y="864040"/>
                  </a:lnTo>
                  <a:lnTo>
                    <a:pt x="157480" y="864040"/>
                  </a:lnTo>
                  <a:lnTo>
                    <a:pt x="157480" y="1052000"/>
                  </a:lnTo>
                  <a:lnTo>
                    <a:pt x="463550" y="864040"/>
                  </a:lnTo>
                  <a:lnTo>
                    <a:pt x="3864935" y="864040"/>
                  </a:lnTo>
                  <a:lnTo>
                    <a:pt x="3864935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3864935" cy="93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728846" y="516780"/>
            <a:ext cx="8432300" cy="2295195"/>
            <a:chOff x="0" y="0"/>
            <a:chExt cx="3864935" cy="1052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864935" cy="1052000"/>
            </a:xfrm>
            <a:custGeom>
              <a:avLst/>
              <a:gdLst/>
              <a:ahLst/>
              <a:cxnLst/>
              <a:rect l="l" t="t" r="r" b="b"/>
              <a:pathLst>
                <a:path w="3864935" h="1052000">
                  <a:moveTo>
                    <a:pt x="3864935" y="0"/>
                  </a:moveTo>
                  <a:lnTo>
                    <a:pt x="0" y="0"/>
                  </a:lnTo>
                  <a:lnTo>
                    <a:pt x="0" y="864040"/>
                  </a:lnTo>
                  <a:lnTo>
                    <a:pt x="157480" y="864040"/>
                  </a:lnTo>
                  <a:lnTo>
                    <a:pt x="157480" y="1052000"/>
                  </a:lnTo>
                  <a:lnTo>
                    <a:pt x="463550" y="864040"/>
                  </a:lnTo>
                  <a:lnTo>
                    <a:pt x="3864935" y="864040"/>
                  </a:lnTo>
                  <a:lnTo>
                    <a:pt x="386493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3864935" cy="93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5761159" y="3259137"/>
            <a:ext cx="6930204" cy="4331187"/>
          </a:xfrm>
          <a:custGeom>
            <a:avLst/>
            <a:gdLst/>
            <a:ahLst/>
            <a:cxnLst/>
            <a:rect l="l" t="t" r="r" b="b"/>
            <a:pathLst>
              <a:path w="6930204" h="4331187">
                <a:moveTo>
                  <a:pt x="0" y="0"/>
                </a:moveTo>
                <a:lnTo>
                  <a:pt x="6930204" y="0"/>
                </a:lnTo>
                <a:lnTo>
                  <a:pt x="6930204" y="4331188"/>
                </a:lnTo>
                <a:lnTo>
                  <a:pt x="0" y="43311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289" t="-22871" r="-31726" b="-1844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52400" y="3137450"/>
            <a:ext cx="5576446" cy="5321787"/>
          </a:xfrm>
          <a:custGeom>
            <a:avLst/>
            <a:gdLst/>
            <a:ahLst/>
            <a:cxnLst/>
            <a:rect l="l" t="t" r="r" b="b"/>
            <a:pathLst>
              <a:path w="6561122" h="5321787">
                <a:moveTo>
                  <a:pt x="0" y="0"/>
                </a:moveTo>
                <a:lnTo>
                  <a:pt x="6561122" y="0"/>
                </a:lnTo>
                <a:lnTo>
                  <a:pt x="6561122" y="5321787"/>
                </a:lnTo>
                <a:lnTo>
                  <a:pt x="0" y="53217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5490" t="-30068" r="-29615" b="-1217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2710413" y="3137450"/>
            <a:ext cx="4567937" cy="4826694"/>
          </a:xfrm>
          <a:custGeom>
            <a:avLst/>
            <a:gdLst/>
            <a:ahLst/>
            <a:cxnLst/>
            <a:rect l="l" t="t" r="r" b="b"/>
            <a:pathLst>
              <a:path w="4567937" h="4826694">
                <a:moveTo>
                  <a:pt x="0" y="0"/>
                </a:moveTo>
                <a:lnTo>
                  <a:pt x="4567937" y="0"/>
                </a:lnTo>
                <a:lnTo>
                  <a:pt x="4567937" y="4826694"/>
                </a:lnTo>
                <a:lnTo>
                  <a:pt x="0" y="48266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1234" t="-26587" r="-75900" b="-1029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6126109" y="810588"/>
            <a:ext cx="7170791" cy="1831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21"/>
              </a:lnSpc>
            </a:pPr>
            <a:r>
              <a:rPr lang="en-US" sz="568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SOLID WORK DESIGN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0" y="1411237"/>
            <a:ext cx="5702119" cy="1389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EAR LOBE DEVICE DESIGN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353197" y="5160907"/>
            <a:ext cx="3790803" cy="988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opening for temperature sensor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728846" y="6555151"/>
            <a:ext cx="3790803" cy="55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opening for MAX30102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610446" y="5704941"/>
            <a:ext cx="1331904" cy="18680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>
            <a:off x="7431668" y="7078391"/>
            <a:ext cx="227983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28846" y="516780"/>
            <a:ext cx="8432300" cy="2295195"/>
            <a:chOff x="0" y="0"/>
            <a:chExt cx="3864935" cy="1052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64935" cy="1052000"/>
            </a:xfrm>
            <a:custGeom>
              <a:avLst/>
              <a:gdLst/>
              <a:ahLst/>
              <a:cxnLst/>
              <a:rect l="l" t="t" r="r" b="b"/>
              <a:pathLst>
                <a:path w="3864935" h="1052000">
                  <a:moveTo>
                    <a:pt x="3864935" y="0"/>
                  </a:moveTo>
                  <a:lnTo>
                    <a:pt x="0" y="0"/>
                  </a:lnTo>
                  <a:lnTo>
                    <a:pt x="0" y="864040"/>
                  </a:lnTo>
                  <a:lnTo>
                    <a:pt x="157480" y="864040"/>
                  </a:lnTo>
                  <a:lnTo>
                    <a:pt x="157480" y="1052000"/>
                  </a:lnTo>
                  <a:lnTo>
                    <a:pt x="463550" y="864040"/>
                  </a:lnTo>
                  <a:lnTo>
                    <a:pt x="3864935" y="864040"/>
                  </a:lnTo>
                  <a:lnTo>
                    <a:pt x="3864935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3864935" cy="93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728846" y="516780"/>
            <a:ext cx="8432300" cy="2295195"/>
            <a:chOff x="0" y="0"/>
            <a:chExt cx="3864935" cy="1052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864935" cy="1052000"/>
            </a:xfrm>
            <a:custGeom>
              <a:avLst/>
              <a:gdLst/>
              <a:ahLst/>
              <a:cxnLst/>
              <a:rect l="l" t="t" r="r" b="b"/>
              <a:pathLst>
                <a:path w="3864935" h="1052000">
                  <a:moveTo>
                    <a:pt x="3864935" y="0"/>
                  </a:moveTo>
                  <a:lnTo>
                    <a:pt x="0" y="0"/>
                  </a:lnTo>
                  <a:lnTo>
                    <a:pt x="0" y="864040"/>
                  </a:lnTo>
                  <a:lnTo>
                    <a:pt x="157480" y="864040"/>
                  </a:lnTo>
                  <a:lnTo>
                    <a:pt x="157480" y="1052000"/>
                  </a:lnTo>
                  <a:lnTo>
                    <a:pt x="463550" y="864040"/>
                  </a:lnTo>
                  <a:lnTo>
                    <a:pt x="3864935" y="864040"/>
                  </a:lnTo>
                  <a:lnTo>
                    <a:pt x="386493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3864935" cy="93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438191" y="3401302"/>
            <a:ext cx="10066322" cy="5740887"/>
          </a:xfrm>
          <a:custGeom>
            <a:avLst/>
            <a:gdLst/>
            <a:ahLst/>
            <a:cxnLst/>
            <a:rect l="l" t="t" r="r" b="b"/>
            <a:pathLst>
              <a:path w="10066322" h="5740887">
                <a:moveTo>
                  <a:pt x="0" y="0"/>
                </a:moveTo>
                <a:lnTo>
                  <a:pt x="10066322" y="0"/>
                </a:lnTo>
                <a:lnTo>
                  <a:pt x="10066322" y="5740887"/>
                </a:lnTo>
                <a:lnTo>
                  <a:pt x="0" y="57408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087" t="-16591" r="-10597" b="-1526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9825969" y="3211006"/>
            <a:ext cx="7433331" cy="6047294"/>
          </a:xfrm>
          <a:custGeom>
            <a:avLst/>
            <a:gdLst/>
            <a:ahLst/>
            <a:cxnLst/>
            <a:rect l="l" t="t" r="r" b="b"/>
            <a:pathLst>
              <a:path w="7433331" h="6047294">
                <a:moveTo>
                  <a:pt x="0" y="0"/>
                </a:moveTo>
                <a:lnTo>
                  <a:pt x="7433331" y="0"/>
                </a:lnTo>
                <a:lnTo>
                  <a:pt x="7433331" y="6047294"/>
                </a:lnTo>
                <a:lnTo>
                  <a:pt x="0" y="60472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6126109" y="810588"/>
            <a:ext cx="7170791" cy="1831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21"/>
              </a:lnSpc>
            </a:pPr>
            <a:r>
              <a:rPr lang="en-US" sz="568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SOLID WORK DESIGN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2022035"/>
            <a:ext cx="3441609" cy="1621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sz="4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DISPLAY SYSTEM</a:t>
            </a:r>
          </a:p>
        </p:txBody>
      </p:sp>
      <p:sp>
        <p:nvSpPr>
          <p:cNvPr id="12" name="AutoShape 12"/>
          <p:cNvSpPr/>
          <p:nvPr/>
        </p:nvSpPr>
        <p:spPr>
          <a:xfrm flipH="1">
            <a:off x="6126109" y="4377180"/>
            <a:ext cx="1251174" cy="76632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 flipH="1">
            <a:off x="5488835" y="3831470"/>
            <a:ext cx="1274548" cy="109142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 flipH="1">
            <a:off x="4931511" y="3401302"/>
            <a:ext cx="539841" cy="97587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1730222" y="3001887"/>
            <a:ext cx="10066322" cy="561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OPENINGS FOR LEDS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14684" y="7210742"/>
            <a:ext cx="5390531" cy="55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OPENING FOR LCD DISPLAY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28846" y="516780"/>
            <a:ext cx="8432300" cy="2295195"/>
            <a:chOff x="0" y="0"/>
            <a:chExt cx="3864935" cy="1052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64935" cy="1052000"/>
            </a:xfrm>
            <a:custGeom>
              <a:avLst/>
              <a:gdLst/>
              <a:ahLst/>
              <a:cxnLst/>
              <a:rect l="l" t="t" r="r" b="b"/>
              <a:pathLst>
                <a:path w="3864935" h="1052000">
                  <a:moveTo>
                    <a:pt x="3864935" y="0"/>
                  </a:moveTo>
                  <a:lnTo>
                    <a:pt x="0" y="0"/>
                  </a:lnTo>
                  <a:lnTo>
                    <a:pt x="0" y="864040"/>
                  </a:lnTo>
                  <a:lnTo>
                    <a:pt x="157480" y="864040"/>
                  </a:lnTo>
                  <a:lnTo>
                    <a:pt x="157480" y="1052000"/>
                  </a:lnTo>
                  <a:lnTo>
                    <a:pt x="463550" y="864040"/>
                  </a:lnTo>
                  <a:lnTo>
                    <a:pt x="3864935" y="864040"/>
                  </a:lnTo>
                  <a:lnTo>
                    <a:pt x="3864935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3864935" cy="93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728846" y="338321"/>
            <a:ext cx="8432300" cy="2295195"/>
            <a:chOff x="0" y="0"/>
            <a:chExt cx="3864935" cy="1052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864935" cy="1052000"/>
            </a:xfrm>
            <a:custGeom>
              <a:avLst/>
              <a:gdLst/>
              <a:ahLst/>
              <a:cxnLst/>
              <a:rect l="l" t="t" r="r" b="b"/>
              <a:pathLst>
                <a:path w="3864935" h="1052000">
                  <a:moveTo>
                    <a:pt x="3864935" y="0"/>
                  </a:moveTo>
                  <a:lnTo>
                    <a:pt x="0" y="0"/>
                  </a:lnTo>
                  <a:lnTo>
                    <a:pt x="0" y="864040"/>
                  </a:lnTo>
                  <a:lnTo>
                    <a:pt x="157480" y="864040"/>
                  </a:lnTo>
                  <a:lnTo>
                    <a:pt x="157480" y="1052000"/>
                  </a:lnTo>
                  <a:lnTo>
                    <a:pt x="463550" y="864040"/>
                  </a:lnTo>
                  <a:lnTo>
                    <a:pt x="3864935" y="864040"/>
                  </a:lnTo>
                  <a:lnTo>
                    <a:pt x="386493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3864935" cy="93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114954" y="457181"/>
            <a:ext cx="7637774" cy="1028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65"/>
              </a:lnSpc>
            </a:pPr>
            <a:r>
              <a:rPr lang="en-US" sz="605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PCB DESIGN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728846" y="4678709"/>
            <a:ext cx="2310464" cy="377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ESP32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33973" y="5183754"/>
            <a:ext cx="1251656" cy="377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MLX90614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510944" y="4536152"/>
            <a:ext cx="1278094" cy="377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MAX30102</a:t>
            </a:r>
          </a:p>
        </p:txBody>
      </p:sp>
      <p:pic>
        <p:nvPicPr>
          <p:cNvPr id="14" name="Picture 13" descr="A computer screen shot of a circuit board&#10;&#10;AI-generated content may be incorrect.">
            <a:extLst>
              <a:ext uri="{FF2B5EF4-FFF2-40B4-BE49-F238E27FC236}">
                <a16:creationId xmlns:a16="http://schemas.microsoft.com/office/drawing/2014/main" id="{182BBD47-AAD1-7356-DB34-86A22B1A22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8962" y="2978224"/>
            <a:ext cx="10369438" cy="635627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circuit board with wires and a white circle&#10;&#10;AI-generated content may be incorrect.">
            <a:extLst>
              <a:ext uri="{FF2B5EF4-FFF2-40B4-BE49-F238E27FC236}">
                <a16:creationId xmlns:a16="http://schemas.microsoft.com/office/drawing/2014/main" id="{BC779EC5-0022-E225-3994-6B807E5497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3282" y="2133180"/>
            <a:ext cx="9768517" cy="60206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B8E9C85-5E24-B6C6-333B-8C2176900FE3}"/>
              </a:ext>
            </a:extLst>
          </p:cNvPr>
          <p:cNvSpPr txBox="1"/>
          <p:nvPr/>
        </p:nvSpPr>
        <p:spPr>
          <a:xfrm>
            <a:off x="5029200" y="723900"/>
            <a:ext cx="7467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View</a:t>
            </a:r>
          </a:p>
        </p:txBody>
      </p:sp>
    </p:spTree>
    <p:extLst>
      <p:ext uri="{BB962C8B-B14F-4D97-AF65-F5344CB8AC3E}">
        <p14:creationId xmlns:p14="http://schemas.microsoft.com/office/powerpoint/2010/main" val="14935029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28846" y="516780"/>
            <a:ext cx="8432300" cy="2295195"/>
            <a:chOff x="0" y="0"/>
            <a:chExt cx="3864935" cy="1052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64935" cy="1052000"/>
            </a:xfrm>
            <a:custGeom>
              <a:avLst/>
              <a:gdLst/>
              <a:ahLst/>
              <a:cxnLst/>
              <a:rect l="l" t="t" r="r" b="b"/>
              <a:pathLst>
                <a:path w="3864935" h="1052000">
                  <a:moveTo>
                    <a:pt x="3864935" y="0"/>
                  </a:moveTo>
                  <a:lnTo>
                    <a:pt x="0" y="0"/>
                  </a:lnTo>
                  <a:lnTo>
                    <a:pt x="0" y="864040"/>
                  </a:lnTo>
                  <a:lnTo>
                    <a:pt x="157480" y="864040"/>
                  </a:lnTo>
                  <a:lnTo>
                    <a:pt x="157480" y="1052000"/>
                  </a:lnTo>
                  <a:lnTo>
                    <a:pt x="463550" y="864040"/>
                  </a:lnTo>
                  <a:lnTo>
                    <a:pt x="3864935" y="864040"/>
                  </a:lnTo>
                  <a:lnTo>
                    <a:pt x="3864935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3864935" cy="93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728846" y="338321"/>
            <a:ext cx="8432300" cy="2295195"/>
            <a:chOff x="0" y="0"/>
            <a:chExt cx="3864935" cy="1052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864935" cy="1052000"/>
            </a:xfrm>
            <a:custGeom>
              <a:avLst/>
              <a:gdLst/>
              <a:ahLst/>
              <a:cxnLst/>
              <a:rect l="l" t="t" r="r" b="b"/>
              <a:pathLst>
                <a:path w="3864935" h="1052000">
                  <a:moveTo>
                    <a:pt x="3864935" y="0"/>
                  </a:moveTo>
                  <a:lnTo>
                    <a:pt x="0" y="0"/>
                  </a:lnTo>
                  <a:lnTo>
                    <a:pt x="0" y="864040"/>
                  </a:lnTo>
                  <a:lnTo>
                    <a:pt x="157480" y="864040"/>
                  </a:lnTo>
                  <a:lnTo>
                    <a:pt x="157480" y="1052000"/>
                  </a:lnTo>
                  <a:lnTo>
                    <a:pt x="463550" y="864040"/>
                  </a:lnTo>
                  <a:lnTo>
                    <a:pt x="3864935" y="864040"/>
                  </a:lnTo>
                  <a:lnTo>
                    <a:pt x="386493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3864935" cy="93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89789" y="3619556"/>
            <a:ext cx="5783222" cy="6491763"/>
          </a:xfrm>
          <a:custGeom>
            <a:avLst/>
            <a:gdLst/>
            <a:ahLst/>
            <a:cxnLst/>
            <a:rect l="l" t="t" r="r" b="b"/>
            <a:pathLst>
              <a:path w="5783222" h="6491763">
                <a:moveTo>
                  <a:pt x="0" y="0"/>
                </a:moveTo>
                <a:lnTo>
                  <a:pt x="5783222" y="0"/>
                </a:lnTo>
                <a:lnTo>
                  <a:pt x="5783222" y="6491763"/>
                </a:lnTo>
                <a:lnTo>
                  <a:pt x="0" y="64917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878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8039310" y="3619556"/>
            <a:ext cx="6749728" cy="6724923"/>
          </a:xfrm>
          <a:custGeom>
            <a:avLst/>
            <a:gdLst/>
            <a:ahLst/>
            <a:cxnLst/>
            <a:rect l="l" t="t" r="r" b="b"/>
            <a:pathLst>
              <a:path w="6749728" h="6724923">
                <a:moveTo>
                  <a:pt x="0" y="0"/>
                </a:moveTo>
                <a:lnTo>
                  <a:pt x="6749728" y="0"/>
                </a:lnTo>
                <a:lnTo>
                  <a:pt x="6749728" y="6724923"/>
                </a:lnTo>
                <a:lnTo>
                  <a:pt x="0" y="67249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5469" b="-835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6114954" y="457181"/>
            <a:ext cx="7637774" cy="1943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65"/>
              </a:lnSpc>
            </a:pPr>
            <a:r>
              <a:rPr lang="en-US" sz="605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STIMULATION AND RESULTS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728846" y="4678709"/>
            <a:ext cx="2310464" cy="377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ESP32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233973" y="5183754"/>
            <a:ext cx="1251656" cy="377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MLX90614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510944" y="4536152"/>
            <a:ext cx="1278094" cy="377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MAX30102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7351" y="2238431"/>
            <a:ext cx="16651949" cy="1541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 LED was on and buzzer audible alert when temperature was below 36 celsius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28846" y="516780"/>
            <a:ext cx="8432300" cy="2295195"/>
            <a:chOff x="0" y="0"/>
            <a:chExt cx="3864935" cy="1052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64935" cy="1052000"/>
            </a:xfrm>
            <a:custGeom>
              <a:avLst/>
              <a:gdLst/>
              <a:ahLst/>
              <a:cxnLst/>
              <a:rect l="l" t="t" r="r" b="b"/>
              <a:pathLst>
                <a:path w="3864935" h="1052000">
                  <a:moveTo>
                    <a:pt x="3864935" y="0"/>
                  </a:moveTo>
                  <a:lnTo>
                    <a:pt x="0" y="0"/>
                  </a:lnTo>
                  <a:lnTo>
                    <a:pt x="0" y="864040"/>
                  </a:lnTo>
                  <a:lnTo>
                    <a:pt x="157480" y="864040"/>
                  </a:lnTo>
                  <a:lnTo>
                    <a:pt x="157480" y="1052000"/>
                  </a:lnTo>
                  <a:lnTo>
                    <a:pt x="463550" y="864040"/>
                  </a:lnTo>
                  <a:lnTo>
                    <a:pt x="3864935" y="864040"/>
                  </a:lnTo>
                  <a:lnTo>
                    <a:pt x="3864935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3864935" cy="93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728846" y="338321"/>
            <a:ext cx="8432300" cy="2295195"/>
            <a:chOff x="0" y="0"/>
            <a:chExt cx="3864935" cy="1052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864935" cy="1052000"/>
            </a:xfrm>
            <a:custGeom>
              <a:avLst/>
              <a:gdLst/>
              <a:ahLst/>
              <a:cxnLst/>
              <a:rect l="l" t="t" r="r" b="b"/>
              <a:pathLst>
                <a:path w="3864935" h="1052000">
                  <a:moveTo>
                    <a:pt x="3864935" y="0"/>
                  </a:moveTo>
                  <a:lnTo>
                    <a:pt x="0" y="0"/>
                  </a:lnTo>
                  <a:lnTo>
                    <a:pt x="0" y="864040"/>
                  </a:lnTo>
                  <a:lnTo>
                    <a:pt x="157480" y="864040"/>
                  </a:lnTo>
                  <a:lnTo>
                    <a:pt x="157480" y="1052000"/>
                  </a:lnTo>
                  <a:lnTo>
                    <a:pt x="463550" y="864040"/>
                  </a:lnTo>
                  <a:lnTo>
                    <a:pt x="3864935" y="864040"/>
                  </a:lnTo>
                  <a:lnTo>
                    <a:pt x="386493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3864935" cy="93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908989" y="4031219"/>
            <a:ext cx="5783222" cy="7710963"/>
          </a:xfrm>
          <a:custGeom>
            <a:avLst/>
            <a:gdLst/>
            <a:ahLst/>
            <a:cxnLst/>
            <a:rect l="l" t="t" r="r" b="b"/>
            <a:pathLst>
              <a:path w="5783222" h="7710963">
                <a:moveTo>
                  <a:pt x="0" y="0"/>
                </a:moveTo>
                <a:lnTo>
                  <a:pt x="5783222" y="0"/>
                </a:lnTo>
                <a:lnTo>
                  <a:pt x="5783222" y="7710962"/>
                </a:lnTo>
                <a:lnTo>
                  <a:pt x="0" y="77109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8587747" y="4443379"/>
            <a:ext cx="5164981" cy="6886642"/>
          </a:xfrm>
          <a:custGeom>
            <a:avLst/>
            <a:gdLst/>
            <a:ahLst/>
            <a:cxnLst/>
            <a:rect l="l" t="t" r="r" b="b"/>
            <a:pathLst>
              <a:path w="5164981" h="6886642">
                <a:moveTo>
                  <a:pt x="0" y="0"/>
                </a:moveTo>
                <a:lnTo>
                  <a:pt x="5164981" y="0"/>
                </a:lnTo>
                <a:lnTo>
                  <a:pt x="5164981" y="6886642"/>
                </a:lnTo>
                <a:lnTo>
                  <a:pt x="0" y="68866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6114954" y="457181"/>
            <a:ext cx="7637774" cy="1943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65"/>
              </a:lnSpc>
            </a:pPr>
            <a:r>
              <a:rPr lang="en-US" sz="605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STIMULATION AND RESULTS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728846" y="4678709"/>
            <a:ext cx="2310464" cy="377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ESP32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233973" y="5183754"/>
            <a:ext cx="1251656" cy="377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MLX90614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510944" y="4536152"/>
            <a:ext cx="1278094" cy="377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MAX30102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8025" y="2650050"/>
            <a:ext cx="16651949" cy="798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Green LED was on  when temperature was &gt; 36 celsius and&lt;37.5 celsius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28846" y="516780"/>
            <a:ext cx="8432300" cy="2295195"/>
            <a:chOff x="0" y="0"/>
            <a:chExt cx="3864935" cy="1052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64935" cy="1052000"/>
            </a:xfrm>
            <a:custGeom>
              <a:avLst/>
              <a:gdLst/>
              <a:ahLst/>
              <a:cxnLst/>
              <a:rect l="l" t="t" r="r" b="b"/>
              <a:pathLst>
                <a:path w="3864935" h="1052000">
                  <a:moveTo>
                    <a:pt x="3864935" y="0"/>
                  </a:moveTo>
                  <a:lnTo>
                    <a:pt x="0" y="0"/>
                  </a:lnTo>
                  <a:lnTo>
                    <a:pt x="0" y="864040"/>
                  </a:lnTo>
                  <a:lnTo>
                    <a:pt x="157480" y="864040"/>
                  </a:lnTo>
                  <a:lnTo>
                    <a:pt x="157480" y="1052000"/>
                  </a:lnTo>
                  <a:lnTo>
                    <a:pt x="463550" y="864040"/>
                  </a:lnTo>
                  <a:lnTo>
                    <a:pt x="3864935" y="864040"/>
                  </a:lnTo>
                  <a:lnTo>
                    <a:pt x="3864935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3864935" cy="93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728846" y="338321"/>
            <a:ext cx="8432300" cy="2295195"/>
            <a:chOff x="0" y="0"/>
            <a:chExt cx="3864935" cy="1052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864935" cy="1052000"/>
            </a:xfrm>
            <a:custGeom>
              <a:avLst/>
              <a:gdLst/>
              <a:ahLst/>
              <a:cxnLst/>
              <a:rect l="l" t="t" r="r" b="b"/>
              <a:pathLst>
                <a:path w="3864935" h="1052000">
                  <a:moveTo>
                    <a:pt x="3864935" y="0"/>
                  </a:moveTo>
                  <a:lnTo>
                    <a:pt x="0" y="0"/>
                  </a:lnTo>
                  <a:lnTo>
                    <a:pt x="0" y="864040"/>
                  </a:lnTo>
                  <a:lnTo>
                    <a:pt x="157480" y="864040"/>
                  </a:lnTo>
                  <a:lnTo>
                    <a:pt x="157480" y="1052000"/>
                  </a:lnTo>
                  <a:lnTo>
                    <a:pt x="463550" y="864040"/>
                  </a:lnTo>
                  <a:lnTo>
                    <a:pt x="3864935" y="864040"/>
                  </a:lnTo>
                  <a:lnTo>
                    <a:pt x="386493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3864935" cy="93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51789" y="4145519"/>
            <a:ext cx="5783222" cy="7710963"/>
          </a:xfrm>
          <a:custGeom>
            <a:avLst/>
            <a:gdLst/>
            <a:ahLst/>
            <a:cxnLst/>
            <a:rect l="l" t="t" r="r" b="b"/>
            <a:pathLst>
              <a:path w="5783222" h="7710963">
                <a:moveTo>
                  <a:pt x="0" y="0"/>
                </a:moveTo>
                <a:lnTo>
                  <a:pt x="5783222" y="0"/>
                </a:lnTo>
                <a:lnTo>
                  <a:pt x="5783222" y="7710962"/>
                </a:lnTo>
                <a:lnTo>
                  <a:pt x="0" y="77109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8119041" y="4763155"/>
            <a:ext cx="4767719" cy="4130324"/>
          </a:xfrm>
          <a:custGeom>
            <a:avLst/>
            <a:gdLst/>
            <a:ahLst/>
            <a:cxnLst/>
            <a:rect l="l" t="t" r="r" b="b"/>
            <a:pathLst>
              <a:path w="4767719" h="4130324">
                <a:moveTo>
                  <a:pt x="0" y="0"/>
                </a:moveTo>
                <a:lnTo>
                  <a:pt x="4767718" y="0"/>
                </a:lnTo>
                <a:lnTo>
                  <a:pt x="4767718" y="4130324"/>
                </a:lnTo>
                <a:lnTo>
                  <a:pt x="0" y="4130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390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6114954" y="457181"/>
            <a:ext cx="7637774" cy="1943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65"/>
              </a:lnSpc>
            </a:pPr>
            <a:r>
              <a:rPr lang="en-US" sz="605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STIMULATION AND RESULTS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728846" y="4678709"/>
            <a:ext cx="2310464" cy="377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ESP32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233973" y="5183754"/>
            <a:ext cx="1251656" cy="377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MLX90614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510944" y="4536152"/>
            <a:ext cx="1278094" cy="377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MAX30102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7351" y="2650050"/>
            <a:ext cx="16651949" cy="798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YellowLED was onwhen temperature was &gt; 37.5 and &lt;38 celsius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680067" y="489746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14607933" y="-126175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 flipV="1">
            <a:off x="-3530978" y="-240724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523370" y="3023348"/>
            <a:ext cx="15078830" cy="6234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41"/>
              </a:lnSpc>
            </a:pPr>
            <a:endParaRPr/>
          </a:p>
          <a:p>
            <a:pPr marL="762006" lvl="1" indent="-381003" algn="l">
              <a:lnSpc>
                <a:spcPts val="4941"/>
              </a:lnSpc>
              <a:buFont typeface="Arial"/>
              <a:buChar char="•"/>
            </a:pPr>
            <a:r>
              <a:rPr lang="en-US" sz="35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Library Issues-Despite downloading the required MAX30102 libraries, Arduino IDE showed "No such library" errors.</a:t>
            </a:r>
          </a:p>
          <a:p>
            <a:pPr marL="762006" lvl="1" indent="-381003" algn="l">
              <a:lnSpc>
                <a:spcPts val="4941"/>
              </a:lnSpc>
              <a:buFont typeface="Arial"/>
              <a:buChar char="•"/>
            </a:pPr>
            <a:r>
              <a:rPr lang="en-US" sz="35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Execution Challenges- After obtaining the code from GitHub, the code executed, but the sensor was not captured.</a:t>
            </a:r>
          </a:p>
          <a:p>
            <a:pPr marL="762006" lvl="1" indent="-381003" algn="l">
              <a:lnSpc>
                <a:spcPts val="4941"/>
              </a:lnSpc>
              <a:buFont typeface="Arial"/>
              <a:buChar char="•"/>
            </a:pPr>
            <a:r>
              <a:rPr lang="en-US" sz="35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Sensor Initialization Loop-The sensor repeatedly showed "Initializing" but failed to work.</a:t>
            </a:r>
          </a:p>
          <a:p>
            <a:pPr marL="762006" lvl="1" indent="-381003" algn="l">
              <a:lnSpc>
                <a:spcPts val="4941"/>
              </a:lnSpc>
              <a:buFont typeface="Arial"/>
              <a:buChar char="•"/>
            </a:pPr>
            <a:r>
              <a:rPr lang="en-US" sz="35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Circuit Modification Attempts- Made changes to the sensor circuit, but the issue persisted.</a:t>
            </a:r>
          </a:p>
          <a:p>
            <a:pPr algn="l">
              <a:lnSpc>
                <a:spcPts val="4941"/>
              </a:lnSpc>
            </a:pPr>
            <a:endParaRPr lang="en-US" sz="352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3832467" y="516780"/>
            <a:ext cx="11666827" cy="2295195"/>
            <a:chOff x="0" y="0"/>
            <a:chExt cx="5347477" cy="1052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347477" cy="1052000"/>
            </a:xfrm>
            <a:custGeom>
              <a:avLst/>
              <a:gdLst/>
              <a:ahLst/>
              <a:cxnLst/>
              <a:rect l="l" t="t" r="r" b="b"/>
              <a:pathLst>
                <a:path w="5347477" h="1052000">
                  <a:moveTo>
                    <a:pt x="5347477" y="0"/>
                  </a:moveTo>
                  <a:lnTo>
                    <a:pt x="0" y="0"/>
                  </a:lnTo>
                  <a:lnTo>
                    <a:pt x="0" y="864040"/>
                  </a:lnTo>
                  <a:lnTo>
                    <a:pt x="157480" y="864040"/>
                  </a:lnTo>
                  <a:lnTo>
                    <a:pt x="157480" y="1052000"/>
                  </a:lnTo>
                  <a:lnTo>
                    <a:pt x="463550" y="864040"/>
                  </a:lnTo>
                  <a:lnTo>
                    <a:pt x="5347477" y="864040"/>
                  </a:lnTo>
                  <a:lnTo>
                    <a:pt x="5347477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76200"/>
              <a:ext cx="5347477" cy="93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829156" y="458567"/>
            <a:ext cx="11670138" cy="2295195"/>
            <a:chOff x="0" y="0"/>
            <a:chExt cx="5348994" cy="1052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348994" cy="1052000"/>
            </a:xfrm>
            <a:custGeom>
              <a:avLst/>
              <a:gdLst/>
              <a:ahLst/>
              <a:cxnLst/>
              <a:rect l="l" t="t" r="r" b="b"/>
              <a:pathLst>
                <a:path w="5348994" h="1052000">
                  <a:moveTo>
                    <a:pt x="5348994" y="0"/>
                  </a:moveTo>
                  <a:lnTo>
                    <a:pt x="0" y="0"/>
                  </a:lnTo>
                  <a:lnTo>
                    <a:pt x="0" y="864040"/>
                  </a:lnTo>
                  <a:lnTo>
                    <a:pt x="157480" y="864040"/>
                  </a:lnTo>
                  <a:lnTo>
                    <a:pt x="157480" y="1052000"/>
                  </a:lnTo>
                  <a:lnTo>
                    <a:pt x="463550" y="864040"/>
                  </a:lnTo>
                  <a:lnTo>
                    <a:pt x="5348994" y="864040"/>
                  </a:lnTo>
                  <a:lnTo>
                    <a:pt x="534899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76200"/>
              <a:ext cx="5348994" cy="93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4153041" y="914400"/>
            <a:ext cx="11819488" cy="1028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65"/>
              </a:lnSpc>
            </a:pPr>
            <a:r>
              <a:rPr lang="en-US" sz="605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PROBLEMS ENCOUNTERED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93171" y="1688683"/>
            <a:ext cx="11301259" cy="5919034"/>
          </a:xfrm>
          <a:custGeom>
            <a:avLst/>
            <a:gdLst/>
            <a:ahLst/>
            <a:cxnLst/>
            <a:rect l="l" t="t" r="r" b="b"/>
            <a:pathLst>
              <a:path w="11301259" h="5919034">
                <a:moveTo>
                  <a:pt x="0" y="0"/>
                </a:moveTo>
                <a:lnTo>
                  <a:pt x="11301258" y="0"/>
                </a:lnTo>
                <a:lnTo>
                  <a:pt x="11301258" y="5919034"/>
                </a:lnTo>
                <a:lnTo>
                  <a:pt x="0" y="59190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5BC176-8200-545E-38DB-7A6E72BF31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0" y="5753100"/>
            <a:ext cx="7610475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microchip&#10;&#10;AI-generated content may be incorrect.">
            <a:extLst>
              <a:ext uri="{FF2B5EF4-FFF2-40B4-BE49-F238E27FC236}">
                <a16:creationId xmlns:a16="http://schemas.microsoft.com/office/drawing/2014/main" id="{C4E88189-98B0-DD4F-EAB8-C2F060F70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1" y="2705101"/>
            <a:ext cx="7696200" cy="3509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7462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683378" y="116875"/>
            <a:ext cx="11666827" cy="1953503"/>
            <a:chOff x="0" y="0"/>
            <a:chExt cx="5347477" cy="8953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47477" cy="895386"/>
            </a:xfrm>
            <a:custGeom>
              <a:avLst/>
              <a:gdLst/>
              <a:ahLst/>
              <a:cxnLst/>
              <a:rect l="l" t="t" r="r" b="b"/>
              <a:pathLst>
                <a:path w="5347477" h="895386">
                  <a:moveTo>
                    <a:pt x="5347477" y="0"/>
                  </a:moveTo>
                  <a:lnTo>
                    <a:pt x="0" y="0"/>
                  </a:lnTo>
                  <a:lnTo>
                    <a:pt x="0" y="707426"/>
                  </a:lnTo>
                  <a:lnTo>
                    <a:pt x="157480" y="707426"/>
                  </a:lnTo>
                  <a:lnTo>
                    <a:pt x="157480" y="895386"/>
                  </a:lnTo>
                  <a:lnTo>
                    <a:pt x="463550" y="707426"/>
                  </a:lnTo>
                  <a:lnTo>
                    <a:pt x="5347477" y="707426"/>
                  </a:lnTo>
                  <a:lnTo>
                    <a:pt x="5347477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5347477" cy="7810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680067" y="287721"/>
            <a:ext cx="11670138" cy="1611811"/>
            <a:chOff x="0" y="0"/>
            <a:chExt cx="5348994" cy="7387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348994" cy="738772"/>
            </a:xfrm>
            <a:custGeom>
              <a:avLst/>
              <a:gdLst/>
              <a:ahLst/>
              <a:cxnLst/>
              <a:rect l="l" t="t" r="r" b="b"/>
              <a:pathLst>
                <a:path w="5348994" h="738772">
                  <a:moveTo>
                    <a:pt x="5348994" y="0"/>
                  </a:moveTo>
                  <a:lnTo>
                    <a:pt x="0" y="0"/>
                  </a:lnTo>
                  <a:lnTo>
                    <a:pt x="0" y="550812"/>
                  </a:lnTo>
                  <a:lnTo>
                    <a:pt x="157480" y="550812"/>
                  </a:lnTo>
                  <a:lnTo>
                    <a:pt x="157480" y="738772"/>
                  </a:lnTo>
                  <a:lnTo>
                    <a:pt x="463550" y="550812"/>
                  </a:lnTo>
                  <a:lnTo>
                    <a:pt x="5348994" y="550812"/>
                  </a:lnTo>
                  <a:lnTo>
                    <a:pt x="534899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5348994" cy="62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641845" y="1533525"/>
          <a:ext cx="17138362" cy="9601200"/>
        </p:xfrm>
        <a:graphic>
          <a:graphicData uri="http://schemas.openxmlformats.org/drawingml/2006/table">
            <a:tbl>
              <a:tblPr/>
              <a:tblGrid>
                <a:gridCol w="8873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643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42361"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ESP32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1100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9302"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MAX30102  Pulse oximeter sensor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790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9302"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LCD Display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470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9302"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Buzzer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09302"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LED’S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09302"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3.7V Li-ion Rechargeable Battery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09302"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resistors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09302"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COST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3510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93725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3829156" y="577428"/>
            <a:ext cx="11819488" cy="1028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65"/>
              </a:lnSpc>
            </a:pPr>
            <a:r>
              <a:rPr lang="en-US" sz="605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COST ESTIMATION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680067" y="489746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14607933" y="-126175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4757022" y="6029979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H="1" flipV="1">
            <a:off x="-3530978" y="-240724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4751838" y="3981759"/>
            <a:ext cx="8784324" cy="1543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852"/>
              </a:lnSpc>
              <a:spcBef>
                <a:spcPct val="0"/>
              </a:spcBef>
            </a:pPr>
            <a:r>
              <a:rPr lang="en-US" sz="9043" b="1" u="none" strike="noStrik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</TotalTime>
  <Words>893</Words>
  <Application>Microsoft Office PowerPoint</Application>
  <PresentationFormat>Custom</PresentationFormat>
  <Paragraphs>156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Wingdings</vt:lpstr>
      <vt:lpstr>League Spartan</vt:lpstr>
      <vt:lpstr>Times New Roman</vt:lpstr>
      <vt:lpstr>Times New Roman Bold</vt:lpstr>
      <vt:lpstr>Arial</vt:lpstr>
      <vt:lpstr>Century</vt:lpstr>
      <vt:lpstr>Calibri</vt:lpstr>
      <vt:lpstr>Aptos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Blue and White Minimalist Project Presentation</dc:title>
  <dc:creator>User</dc:creator>
  <cp:lastModifiedBy>AD Upenya Dewmini</cp:lastModifiedBy>
  <cp:revision>11</cp:revision>
  <dcterms:created xsi:type="dcterms:W3CDTF">2006-08-16T00:00:00Z</dcterms:created>
  <dcterms:modified xsi:type="dcterms:W3CDTF">2025-06-06T08:20:17Z</dcterms:modified>
  <dc:identifier>DAGgJDoLa_A</dc:identifier>
</cp:coreProperties>
</file>